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0:35
Presenter cue: Frame the talk around one question: how can online learning help estimate unknown vehicle dynamics without giving up observer guarantees?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
Presenter cue: Introduce μₓ as the mismatch between the nominal vehicle model and the road. The point is not that neural networks are bad; it is that their online behaviour needs a physics-based reference.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Presenter cue: Explain why the rank condition is the core practical obstacle. The method starts by accepting that exact decoupling is not always possible, then controls the resulting estimation error.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Presenter cue: Walk through the principle, not the full derivation. E and D are selected to recover the descriptor rank condition, while δ₁ and δ₂ set the size of the perturbation entering the H¹ bound.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Presenter cue: This is the key extension. Do not claim that the method differentiates noisy data afterwards: the augmented observer estimates the derivative state internally. Emphasize the recovery of exponential convergence in the rank-satisfied case.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Presenter cue: Keep this at the level of the result. The LMI converts the nonlinear error analysis into a tractable design condition and certifies the UIO estimates used as targets later.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Presenter cue: This is the central system diagram. Explain that the UIO is the teacher signal, not a frozen baseline: it remains in the loop to regularize online learning. The controller ultimately uses the Layer 2 state estimate.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
Presenter cue: Connect each loss term to a role. The UIO estimate acts as a proxy label because ground-truth μₓ is unavailable online. The L2 result isolates how estimation quality depends on the residual approximation error.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Presenter cue: State only what is measured versus reconstructed. The same controller and reference are used for both observer layers; Layer 2 supplies feedback for trajectory tracking.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
Presenter cue: Begin with the top-left trajectory and compare the estimates visually. Then use the mean position error from the figure to anchor the claim. The bottom panels show that the corresponding input profiles stay well behaved.
[Sources]
- User-provided manuscript: ifac/UIO_IFAC.tex
- User-provided simulation figure: img/traj_control_py.png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Presenter cue: Use the lateral-velocity panel to make the key point: vy is not directly measured. The Layer 2 neural estimate stays close to the true trajectory while retaining the UIO reference structure.
[Sources]
- User-provided manuscript: ifac/UIO_IFAC.tex
- User-provided simulation figure: img/State_est_py.png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Presenter cue: This is the payoff slide. Compare purple Layer 1 versus blue neural estimates against the green truth for the front and rear residuals. State the conclusion cautiously: it is demonstrated in this simulation.
[Sources]
- User-provided manuscript: ifac/UIO_IFAC.tex
- User-provided simulation figure: img/tireforce_slip_py.png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Presenter cue: Return to the opening question. The contribution is a learning system that does not discard physics: the UIO provides a certified teacher signal, and Layer 2 turns it into a predictive residual model. Invite questions.
[Sources]
- User-provided manuscript: ifac/UIO_IFAC.tex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092440" y="0"/>
            <a:ext cx="4099255" cy="6858000"/>
          </a:xfrm>
          <a:prstGeom prst="rect">
            <a:avLst/>
          </a:prstGeom>
          <a:solidFill>
            <a:srgbClr val="1677C8"/>
          </a:solidFill>
          <a:ln w="12700">
            <a:solidFill>
              <a:srgbClr val="1677C8">
                <a:alpha val="0"/>
              </a:srgbClr>
            </a:solidFill>
            <a:prstDash val="solid"/>
          </a:ln>
        </p:spPr>
      </p:sp>
      <p:sp>
        <p:nvSpPr>
          <p:cNvPr id="3" name="Shape 1"/>
          <p:cNvSpPr/>
          <p:nvPr/>
        </p:nvSpPr>
        <p:spPr>
          <a:xfrm>
            <a:off x="8476488" y="512064"/>
            <a:ext cx="3337560" cy="5833872"/>
          </a:xfrm>
          <a:prstGeom prst="rect">
            <a:avLst/>
          </a:prstGeom>
          <a:solidFill>
            <a:srgbClr val="0D5B9E"/>
          </a:solidFill>
          <a:ln w="12700">
            <a:solidFill>
              <a:srgbClr val="0D5B9E">
                <a:alpha val="0"/>
              </a:srgbClr>
            </a:solidFill>
            <a:prstDash val="solid"/>
          </a:ln>
        </p:spPr>
      </p:sp>
      <p:sp>
        <p:nvSpPr>
          <p:cNvPr id="4" name="Text 2"/>
          <p:cNvSpPr txBox="1"/>
          <p:nvPr/>
        </p:nvSpPr>
        <p:spPr>
          <a:xfrm>
            <a:off x="502920" y="530352"/>
            <a:ext cx="2011680" cy="228600"/>
          </a:xfrm>
          <a:prstGeom prst="rect">
            <a:avLst/>
          </a:prstGeom>
          <a:noFill/>
          <a:ln/>
        </p:spPr>
        <p:txBody>
          <a:bodyPr wrap="square" lIns="0" tIns="0" rIns="0" bIns="0" rtlCol="0" anchor="t">
            <a:normAutofit/>
          </a:bodyPr>
          <a:lstStyle/>
          <a:p>
            <a:pPr algn="l" indent="0" marL="0">
              <a:buNone/>
            </a:pPr>
            <a:r>
              <a:rPr lang="en-US" sz="1200" b="1" dirty="0">
                <a:solidFill>
                  <a:srgbClr val="1677C8"/>
                </a:solidFill>
                <a:latin typeface="Arial" pitchFamily="34" charset="0"/>
                <a:ea typeface="Arial" pitchFamily="34" charset="-122"/>
                <a:cs typeface="Arial" pitchFamily="34" charset="-120"/>
              </a:rPr>
              <a:t>IFAC 2025</a:t>
            </a:r>
            <a:endParaRPr lang="en-US" sz="1200" dirty="0"/>
          </a:p>
        </p:txBody>
      </p:sp>
      <p:sp>
        <p:nvSpPr>
          <p:cNvPr id="5" name="Text 3"/>
          <p:cNvSpPr txBox="1"/>
          <p:nvPr/>
        </p:nvSpPr>
        <p:spPr>
          <a:xfrm>
            <a:off x="502920" y="1097280"/>
            <a:ext cx="7086600" cy="2066544"/>
          </a:xfrm>
          <a:prstGeom prst="rect">
            <a:avLst/>
          </a:prstGeom>
          <a:noFill/>
          <a:ln/>
        </p:spPr>
        <p:txBody>
          <a:bodyPr wrap="square" lIns="0" tIns="0" rIns="0" bIns="0" rtlCol="0" anchor="ctr">
            <a:normAutofit/>
          </a:bodyPr>
          <a:lstStyle/>
          <a:p>
            <a:pPr algn="l" indent="0" marL="0">
              <a:buNone/>
            </a:pPr>
            <a:r>
              <a:rPr lang="en-US" sz="3400" b="1" dirty="0">
                <a:solidFill>
                  <a:srgbClr val="111827"/>
                </a:solidFill>
                <a:latin typeface="Arial" pitchFamily="34" charset="0"/>
                <a:ea typeface="Arial" pitchFamily="34" charset="-122"/>
                <a:cs typeface="Arial" pitchFamily="34" charset="-120"/>
              </a:rPr>
              <a:t>Learning with</a:t>
            </a:r>
            <a:endParaRPr lang="en-US" sz="3400" dirty="0"/>
          </a:p>
          <a:p>
            <a:pPr algn="l" indent="0" marL="0">
              <a:buNone/>
            </a:pPr>
            <a:r>
              <a:rPr lang="en-US" sz="3400" b="1" dirty="0">
                <a:solidFill>
                  <a:srgbClr val="111827"/>
                </a:solidFill>
                <a:latin typeface="Arial" pitchFamily="34" charset="0"/>
                <a:ea typeface="Arial" pitchFamily="34" charset="-122"/>
                <a:cs typeface="Arial" pitchFamily="34" charset="-120"/>
              </a:rPr>
              <a:t>Unknown Input Observers</a:t>
            </a:r>
            <a:endParaRPr lang="en-US" sz="3400" dirty="0"/>
          </a:p>
          <a:p>
            <a:pPr algn="l" indent="0" marL="0">
              <a:buNone/>
            </a:pPr>
            <a:r>
              <a:rPr lang="en-US" sz="3400" b="1" dirty="0">
                <a:solidFill>
                  <a:srgbClr val="111827"/>
                </a:solidFill>
                <a:latin typeface="Arial" pitchFamily="34" charset="0"/>
                <a:ea typeface="Arial" pitchFamily="34" charset="-122"/>
                <a:cs typeface="Arial" pitchFamily="34" charset="-120"/>
              </a:rPr>
              <a:t>for Robust Nonlinear Estimation</a:t>
            </a:r>
            <a:endParaRPr lang="en-US" sz="3400" dirty="0"/>
          </a:p>
        </p:txBody>
      </p:sp>
      <p:sp>
        <p:nvSpPr>
          <p:cNvPr id="6" name="Shape 4"/>
          <p:cNvSpPr/>
          <p:nvPr/>
        </p:nvSpPr>
        <p:spPr>
          <a:xfrm>
            <a:off x="502920" y="3529584"/>
            <a:ext cx="5925312" cy="0"/>
          </a:xfrm>
          <a:prstGeom prst="line">
            <a:avLst/>
          </a:prstGeom>
          <a:noFill/>
          <a:ln w="31750">
            <a:solidFill>
              <a:srgbClr val="1677C8"/>
            </a:solidFill>
            <a:prstDash val="solid"/>
            <a:headEnd type="none"/>
            <a:tailEnd type="none"/>
          </a:ln>
        </p:spPr>
      </p:sp>
      <p:sp>
        <p:nvSpPr>
          <p:cNvPr id="7" name="Text 5"/>
          <p:cNvSpPr txBox="1"/>
          <p:nvPr/>
        </p:nvSpPr>
        <p:spPr>
          <a:xfrm>
            <a:off x="502920" y="3822192"/>
            <a:ext cx="6629400" cy="310896"/>
          </a:xfrm>
          <a:prstGeom prst="rect">
            <a:avLst/>
          </a:prstGeom>
          <a:noFill/>
          <a:ln/>
        </p:spPr>
        <p:txBody>
          <a:bodyPr wrap="square" lIns="0" tIns="0" rIns="0" bIns="0" rtlCol="0" anchor="t">
            <a:normAutofit/>
          </a:bodyPr>
          <a:lstStyle/>
          <a:p>
            <a:pPr algn="l" indent="0" marL="0">
              <a:buNone/>
            </a:pPr>
            <a:r>
              <a:rPr lang="en-US" sz="1700" dirty="0">
                <a:solidFill>
                  <a:srgbClr val="111827"/>
                </a:solidFill>
                <a:latin typeface="Arial" pitchFamily="34" charset="0"/>
                <a:ea typeface="Arial" pitchFamily="34" charset="-122"/>
                <a:cs typeface="Arial" pitchFamily="34" charset="-120"/>
              </a:rPr>
              <a:t>Q.H. Nguyen · L. Qi · A. Zemouche · H. Rafaralahy · M. Haddad</a:t>
            </a:r>
            <a:endParaRPr lang="en-US" sz="1700" dirty="0"/>
          </a:p>
        </p:txBody>
      </p:sp>
      <p:sp>
        <p:nvSpPr>
          <p:cNvPr id="8" name="Text 6"/>
          <p:cNvSpPr txBox="1"/>
          <p:nvPr/>
        </p:nvSpPr>
        <p:spPr>
          <a:xfrm>
            <a:off x="502920" y="4224528"/>
            <a:ext cx="5989320" cy="256032"/>
          </a:xfrm>
          <a:prstGeom prst="rect">
            <a:avLst/>
          </a:prstGeom>
          <a:noFill/>
          <a:ln/>
        </p:spPr>
        <p:txBody>
          <a:bodyPr wrap="square" lIns="0" tIns="0" rIns="0" bIns="0" rtlCol="0" anchor="t">
            <a:normAutofit/>
          </a:bodyPr>
          <a:lstStyle/>
          <a:p>
            <a:pPr algn="l" indent="0" marL="0">
              <a:buNone/>
            </a:pPr>
            <a:r>
              <a:rPr lang="en-US" sz="1500" dirty="0">
                <a:solidFill>
                  <a:srgbClr val="52606D"/>
                </a:solidFill>
                <a:latin typeface="Arial" pitchFamily="34" charset="0"/>
                <a:ea typeface="Arial" pitchFamily="34" charset="-122"/>
                <a:cs typeface="Arial" pitchFamily="34" charset="-120"/>
              </a:rPr>
              <a:t>Université de Lorraine · CRAN · SEGULA Engineering</a:t>
            </a:r>
            <a:endParaRPr lang="en-US" sz="1500" dirty="0"/>
          </a:p>
        </p:txBody>
      </p:sp>
      <p:sp>
        <p:nvSpPr>
          <p:cNvPr id="9" name="Text 7"/>
          <p:cNvSpPr txBox="1"/>
          <p:nvPr/>
        </p:nvSpPr>
        <p:spPr>
          <a:xfrm>
            <a:off x="8887968" y="1417320"/>
            <a:ext cx="2578608" cy="1005840"/>
          </a:xfrm>
          <a:prstGeom prst="rect">
            <a:avLst/>
          </a:prstGeom>
          <a:noFill/>
          <a:ln/>
        </p:spPr>
        <p:txBody>
          <a:bodyPr wrap="square" lIns="0" tIns="0" rIns="0" bIns="0" rtlCol="0" anchor="ctr">
            <a:normAutofit/>
          </a:bodyPr>
          <a:lstStyle/>
          <a:p>
            <a:pPr algn="l" indent="0" marL="0">
              <a:buNone/>
            </a:pPr>
            <a:r>
              <a:rPr lang="en-US" sz="2500" b="1" dirty="0">
                <a:solidFill>
                  <a:srgbClr val="FFFFFF"/>
                </a:solidFill>
                <a:latin typeface="Arial" pitchFamily="34" charset="0"/>
                <a:ea typeface="Arial" pitchFamily="34" charset="-122"/>
                <a:cs typeface="Arial" pitchFamily="34" charset="-120"/>
              </a:rPr>
              <a:t>Physics-bound estimation</a:t>
            </a:r>
            <a:endParaRPr lang="en-US" sz="2500" dirty="0"/>
          </a:p>
          <a:p>
            <a:pPr algn="l" indent="0" marL="0">
              <a:buNone/>
            </a:pPr>
            <a:r>
              <a:rPr lang="en-US" sz="2500" b="1" dirty="0">
                <a:solidFill>
                  <a:srgbClr val="FFFFFF"/>
                </a:solidFill>
                <a:latin typeface="Arial" pitchFamily="34" charset="0"/>
                <a:ea typeface="Arial" pitchFamily="34" charset="-122"/>
                <a:cs typeface="Arial" pitchFamily="34" charset="-120"/>
              </a:rPr>
              <a:t>+ online residual learning</a:t>
            </a:r>
            <a:endParaRPr lang="en-US" sz="2500" dirty="0"/>
          </a:p>
        </p:txBody>
      </p:sp>
      <p:sp>
        <p:nvSpPr>
          <p:cNvPr id="10" name="Shape 8"/>
          <p:cNvSpPr/>
          <p:nvPr/>
        </p:nvSpPr>
        <p:spPr>
          <a:xfrm>
            <a:off x="8887968" y="2816352"/>
            <a:ext cx="2011680" cy="0"/>
          </a:xfrm>
          <a:prstGeom prst="line">
            <a:avLst/>
          </a:prstGeom>
          <a:noFill/>
          <a:ln w="17780">
            <a:solidFill>
              <a:srgbClr val="DCEEF9"/>
            </a:solidFill>
            <a:prstDash val="solid"/>
            <a:headEnd type="none"/>
            <a:tailEnd type="none"/>
          </a:ln>
        </p:spPr>
      </p:sp>
      <p:sp>
        <p:nvSpPr>
          <p:cNvPr id="11" name="Text 9"/>
          <p:cNvSpPr txBox="1"/>
          <p:nvPr/>
        </p:nvSpPr>
        <p:spPr>
          <a:xfrm>
            <a:off x="8887968" y="3054096"/>
            <a:ext cx="2414016" cy="914400"/>
          </a:xfrm>
          <a:prstGeom prst="rect">
            <a:avLst/>
          </a:prstGeom>
          <a:noFill/>
          <a:ln/>
        </p:spPr>
        <p:txBody>
          <a:bodyPr wrap="square" lIns="0" tIns="0" rIns="0" bIns="0" rtlCol="0" anchor="t">
            <a:normAutofit/>
          </a:bodyPr>
          <a:lstStyle/>
          <a:p>
            <a:pPr algn="l" indent="0" marL="0">
              <a:buNone/>
            </a:pPr>
            <a:r>
              <a:rPr lang="en-US" sz="1650" dirty="0">
                <a:solidFill>
                  <a:srgbClr val="DCEEF9"/>
                </a:solidFill>
                <a:latin typeface="Arial" pitchFamily="34" charset="0"/>
                <a:ea typeface="Arial" pitchFamily="34" charset="-122"/>
                <a:cs typeface="Arial" pitchFamily="34" charset="-120"/>
              </a:rPr>
              <a:t>A teacher–student observer architecture for vehicle systems with unmodeled dynamics.</a:t>
            </a:r>
            <a:endParaRPr lang="en-US" sz="1650" dirty="0"/>
          </a:p>
        </p:txBody>
      </p:sp>
      <p:sp>
        <p:nvSpPr>
          <p:cNvPr id="12" name="Text 10"/>
          <p:cNvSpPr txBox="1"/>
          <p:nvPr/>
        </p:nvSpPr>
        <p:spPr>
          <a:xfrm>
            <a:off x="8887968" y="5806440"/>
            <a:ext cx="2194560" cy="228600"/>
          </a:xfrm>
          <a:prstGeom prst="rect">
            <a:avLst/>
          </a:prstGeom>
          <a:noFill/>
          <a:ln/>
        </p:spPr>
        <p:txBody>
          <a:bodyPr wrap="square" lIns="0" tIns="0" rIns="0" bIns="0" rtlCol="0" anchor="t">
            <a:normAutofit/>
          </a:bodyPr>
          <a:lstStyle/>
          <a:p>
            <a:pPr algn="l" indent="0" marL="0">
              <a:buNone/>
            </a:pPr>
            <a:r>
              <a:rPr lang="en-US" sz="1300" dirty="0">
                <a:solidFill>
                  <a:srgbClr val="FFFFFF"/>
                </a:solidFill>
                <a:latin typeface="Arial" pitchFamily="34" charset="0"/>
                <a:ea typeface="Arial" pitchFamily="34" charset="-122"/>
                <a:cs typeface="Arial" pitchFamily="34" charset="-120"/>
              </a:rPr>
              <a:t>15-minute presentation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MOTIVATION</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02</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Unknown dynamics challenge model-based estimation</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Vehicle dynamics are known only approximately—and the uncertainty affects estimation and control.</a:t>
            </a:r>
            <a:endParaRPr lang="en-US" sz="1550" dirty="0"/>
          </a:p>
        </p:txBody>
      </p:sp>
      <p:sp>
        <p:nvSpPr>
          <p:cNvPr id="8" name="Shape 6"/>
          <p:cNvSpPr/>
          <p:nvPr/>
        </p:nvSpPr>
        <p:spPr>
          <a:xfrm>
            <a:off x="502920" y="1673352"/>
            <a:ext cx="5532120" cy="4224528"/>
          </a:xfrm>
          <a:prstGeom prst="rect">
            <a:avLst/>
          </a:prstGeom>
          <a:solidFill>
            <a:srgbClr val="F3F5F7"/>
          </a:solidFill>
          <a:ln w="12700">
            <a:solidFill>
              <a:srgbClr val="F3F5F7">
                <a:alpha val="0"/>
              </a:srgbClr>
            </a:solidFill>
            <a:prstDash val="solid"/>
          </a:ln>
        </p:spPr>
      </p:sp>
      <p:sp>
        <p:nvSpPr>
          <p:cNvPr id="9" name="Shape 7"/>
          <p:cNvSpPr/>
          <p:nvPr/>
        </p:nvSpPr>
        <p:spPr>
          <a:xfrm>
            <a:off x="749808" y="1975104"/>
            <a:ext cx="1572768" cy="256032"/>
          </a:xfrm>
          <a:prstGeom prst="rect">
            <a:avLst/>
          </a:prstGeom>
          <a:solidFill>
            <a:srgbClr val="111827"/>
          </a:solidFill>
          <a:ln w="12700">
            <a:solidFill>
              <a:srgbClr val="111827">
                <a:alpha val="0"/>
              </a:srgbClr>
            </a:solidFill>
            <a:prstDash val="solid"/>
          </a:ln>
        </p:spPr>
      </p:sp>
      <p:sp>
        <p:nvSpPr>
          <p:cNvPr id="10" name="Text 8"/>
          <p:cNvSpPr txBox="1"/>
          <p:nvPr/>
        </p:nvSpPr>
        <p:spPr>
          <a:xfrm>
            <a:off x="841248" y="2029968"/>
            <a:ext cx="1389888" cy="128016"/>
          </a:xfrm>
          <a:prstGeom prst="rect">
            <a:avLst/>
          </a:prstGeom>
          <a:noFill/>
          <a:ln/>
        </p:spPr>
        <p:txBody>
          <a:bodyPr wrap="square" lIns="0" tIns="0" rIns="0" bIns="0" rtlCol="0" anchor="t">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NONLINEAR PLANT</a:t>
            </a:r>
            <a:endParaRPr lang="en-US" sz="950" dirty="0"/>
          </a:p>
        </p:txBody>
      </p:sp>
      <p:sp>
        <p:nvSpPr>
          <p:cNvPr id="11" name="Text 9"/>
          <p:cNvSpPr txBox="1"/>
          <p:nvPr/>
        </p:nvSpPr>
        <p:spPr>
          <a:xfrm>
            <a:off x="777240" y="2514600"/>
            <a:ext cx="4709160" cy="822960"/>
          </a:xfrm>
          <a:prstGeom prst="rect">
            <a:avLst/>
          </a:prstGeom>
          <a:noFill/>
          <a:ln/>
        </p:spPr>
        <p:txBody>
          <a:bodyPr wrap="square" lIns="0" tIns="0" rIns="0" bIns="0" rtlCol="0" anchor="t">
            <a:normAutofit/>
          </a:bodyPr>
          <a:lstStyle/>
          <a:p>
            <a:pPr algn="l" indent="0" marL="0">
              <a:buNone/>
            </a:pPr>
            <a:r>
              <a:rPr lang="en-US" sz="2900" dirty="0">
                <a:solidFill>
                  <a:srgbClr val="111827"/>
                </a:solidFill>
                <a:latin typeface="Arial" pitchFamily="34" charset="0"/>
                <a:ea typeface="Arial" pitchFamily="34" charset="-122"/>
                <a:cs typeface="Arial" pitchFamily="34" charset="-120"/>
              </a:rPr>
              <a:t>ẋ = φ(x, u) + B μₓ</a:t>
            </a:r>
            <a:endParaRPr lang="en-US" sz="2900" dirty="0"/>
          </a:p>
          <a:p>
            <a:pPr algn="l" indent="0" marL="0">
              <a:buNone/>
            </a:pPr>
            <a:r>
              <a:rPr lang="en-US" sz="2900" dirty="0">
                <a:solidFill>
                  <a:srgbClr val="111827"/>
                </a:solidFill>
                <a:latin typeface="Arial" pitchFamily="34" charset="0"/>
                <a:ea typeface="Arial" pitchFamily="34" charset="-122"/>
                <a:cs typeface="Arial" pitchFamily="34" charset="-120"/>
              </a:rPr>
              <a:t>y = Cx</a:t>
            </a:r>
            <a:endParaRPr lang="en-US" sz="2900" dirty="0"/>
          </a:p>
        </p:txBody>
      </p:sp>
      <p:sp>
        <p:nvSpPr>
          <p:cNvPr id="12" name="Text 10"/>
          <p:cNvSpPr txBox="1"/>
          <p:nvPr/>
        </p:nvSpPr>
        <p:spPr>
          <a:xfrm>
            <a:off x="777240" y="3703320"/>
            <a:ext cx="4251960" cy="694944"/>
          </a:xfrm>
          <a:prstGeom prst="rect">
            <a:avLst/>
          </a:prstGeom>
          <a:noFill/>
          <a:ln/>
        </p:spPr>
        <p:txBody>
          <a:bodyPr wrap="square" lIns="0" tIns="0" rIns="0" bIns="0" rtlCol="0" anchor="t">
            <a:normAutofit/>
          </a:bodyPr>
          <a:lstStyle/>
          <a:p>
            <a:pPr algn="l" indent="0" marL="0">
              <a:buNone/>
            </a:pPr>
            <a:r>
              <a:rPr lang="en-US" sz="2300" b="1" dirty="0">
                <a:solidFill>
                  <a:srgbClr val="1677C8"/>
                </a:solidFill>
                <a:latin typeface="Arial" pitchFamily="34" charset="0"/>
                <a:ea typeface="Arial" pitchFamily="34" charset="-122"/>
                <a:cs typeface="Arial" pitchFamily="34" charset="-120"/>
              </a:rPr>
              <a:t>μₓ captures unmodeled dynamics</a:t>
            </a:r>
            <a:endParaRPr lang="en-US" sz="2300" dirty="0"/>
          </a:p>
          <a:p>
            <a:pPr algn="l" indent="0" marL="0">
              <a:buNone/>
            </a:pPr>
            <a:r>
              <a:rPr lang="en-US" sz="2300" b="1" dirty="0">
                <a:solidFill>
                  <a:srgbClr val="1677C8"/>
                </a:solidFill>
                <a:latin typeface="Arial" pitchFamily="34" charset="0"/>
                <a:ea typeface="Arial" pitchFamily="34" charset="-122"/>
                <a:cs typeface="Arial" pitchFamily="34" charset="-120"/>
              </a:rPr>
              <a:t>and external disturbances</a:t>
            </a:r>
            <a:endParaRPr lang="en-US" sz="2300" dirty="0"/>
          </a:p>
        </p:txBody>
      </p:sp>
      <p:sp>
        <p:nvSpPr>
          <p:cNvPr id="13" name="Text 11"/>
          <p:cNvSpPr txBox="1"/>
          <p:nvPr/>
        </p:nvSpPr>
        <p:spPr>
          <a:xfrm>
            <a:off x="777240" y="4718304"/>
            <a:ext cx="4617720" cy="566928"/>
          </a:xfrm>
          <a:prstGeom prst="rect">
            <a:avLst/>
          </a:prstGeom>
          <a:noFill/>
          <a:ln/>
        </p:spPr>
        <p:txBody>
          <a:bodyPr wrap="square" lIns="0" tIns="0" rIns="0" bIns="0" rtlCol="0" anchor="t">
            <a:normAutofit/>
          </a:bodyPr>
          <a:lstStyle/>
          <a:p>
            <a:pPr algn="l" indent="0" marL="0">
              <a:buNone/>
            </a:pPr>
            <a:r>
              <a:rPr lang="en-US" sz="1800" dirty="0">
                <a:solidFill>
                  <a:srgbClr val="52606D"/>
                </a:solidFill>
                <a:latin typeface="Arial" pitchFamily="34" charset="0"/>
                <a:ea typeface="Arial" pitchFamily="34" charset="-122"/>
                <a:cs typeface="Arial" pitchFamily="34" charset="-120"/>
              </a:rPr>
              <a:t>Examples in a vehicle: tire-road effects, aerodynamic mismatch, parameter variations.</a:t>
            </a:r>
            <a:endParaRPr lang="en-US" sz="1800" dirty="0"/>
          </a:p>
        </p:txBody>
      </p:sp>
      <p:sp>
        <p:nvSpPr>
          <p:cNvPr id="14" name="Shape 12"/>
          <p:cNvSpPr/>
          <p:nvPr/>
        </p:nvSpPr>
        <p:spPr>
          <a:xfrm>
            <a:off x="6309360" y="1920240"/>
            <a:ext cx="0" cy="3456432"/>
          </a:xfrm>
          <a:prstGeom prst="line">
            <a:avLst/>
          </a:prstGeom>
          <a:noFill/>
          <a:ln w="12700">
            <a:solidFill>
              <a:srgbClr val="E8EDF1"/>
            </a:solidFill>
            <a:prstDash val="solid"/>
            <a:headEnd type="none"/>
            <a:tailEnd type="none"/>
          </a:ln>
        </p:spPr>
      </p:sp>
      <p:sp>
        <p:nvSpPr>
          <p:cNvPr id="15" name="Text 13"/>
          <p:cNvSpPr txBox="1"/>
          <p:nvPr/>
        </p:nvSpPr>
        <p:spPr>
          <a:xfrm>
            <a:off x="6720840" y="1938528"/>
            <a:ext cx="4526280" cy="347472"/>
          </a:xfrm>
          <a:prstGeom prst="rect">
            <a:avLst/>
          </a:prstGeom>
          <a:noFill/>
          <a:ln/>
        </p:spPr>
        <p:txBody>
          <a:bodyPr wrap="square" lIns="0" tIns="0" rIns="0" bIns="0" rtlCol="0" anchor="t">
            <a:normAutofit/>
          </a:bodyPr>
          <a:lstStyle/>
          <a:p>
            <a:pPr algn="l" indent="0" marL="0">
              <a:buNone/>
            </a:pPr>
            <a:r>
              <a:rPr lang="en-US" sz="2500" b="1" dirty="0">
                <a:solidFill>
                  <a:srgbClr val="111827"/>
                </a:solidFill>
                <a:latin typeface="Arial" pitchFamily="34" charset="0"/>
                <a:ea typeface="Arial" pitchFamily="34" charset="-122"/>
                <a:cs typeface="Arial" pitchFamily="34" charset="-120"/>
              </a:rPr>
              <a:t>Why not simply learn μₓ?</a:t>
            </a:r>
            <a:endParaRPr lang="en-US" sz="2500" dirty="0"/>
          </a:p>
        </p:txBody>
      </p:sp>
      <p:sp>
        <p:nvSpPr>
          <p:cNvPr id="16" name="Shape 14"/>
          <p:cNvSpPr/>
          <p:nvPr/>
        </p:nvSpPr>
        <p:spPr>
          <a:xfrm>
            <a:off x="6784848" y="2715768"/>
            <a:ext cx="73152" cy="73152"/>
          </a:xfrm>
          <a:prstGeom prst="rect">
            <a:avLst/>
          </a:prstGeom>
          <a:solidFill>
            <a:srgbClr val="1677C8"/>
          </a:solidFill>
          <a:ln w="12700">
            <a:solidFill>
              <a:srgbClr val="1677C8">
                <a:alpha val="0"/>
              </a:srgbClr>
            </a:solidFill>
            <a:prstDash val="solid"/>
          </a:ln>
        </p:spPr>
      </p:sp>
      <p:sp>
        <p:nvSpPr>
          <p:cNvPr id="17" name="Text 15"/>
          <p:cNvSpPr txBox="1"/>
          <p:nvPr/>
        </p:nvSpPr>
        <p:spPr>
          <a:xfrm>
            <a:off x="6967728" y="2615184"/>
            <a:ext cx="4251960" cy="640080"/>
          </a:xfrm>
          <a:prstGeom prst="rect">
            <a:avLst/>
          </a:prstGeom>
          <a:noFill/>
          <a:ln/>
        </p:spPr>
        <p:txBody>
          <a:bodyPr wrap="square" lIns="0" tIns="0" rIns="0" bIns="0" rtlCol="0" anchor="t">
            <a:normAutofit/>
          </a:bodyPr>
          <a:lstStyle/>
          <a:p>
            <a:pPr algn="l" indent="0" marL="0">
              <a:buNone/>
            </a:pPr>
            <a:r>
              <a:rPr lang="en-US" sz="1850" dirty="0">
                <a:solidFill>
                  <a:srgbClr val="111827"/>
                </a:solidFill>
                <a:latin typeface="Arial" pitchFamily="34" charset="0"/>
                <a:ea typeface="Arial" pitchFamily="34" charset="-122"/>
                <a:cs typeface="Arial" pitchFamily="34" charset="-120"/>
              </a:rPr>
              <a:t>Pure online learning can be unpredictable under distribution shifts.</a:t>
            </a:r>
            <a:endParaRPr lang="en-US" sz="1850" dirty="0"/>
          </a:p>
        </p:txBody>
      </p:sp>
      <p:sp>
        <p:nvSpPr>
          <p:cNvPr id="18" name="Shape 16"/>
          <p:cNvSpPr/>
          <p:nvPr/>
        </p:nvSpPr>
        <p:spPr>
          <a:xfrm>
            <a:off x="6784848" y="3429000"/>
            <a:ext cx="73152" cy="73152"/>
          </a:xfrm>
          <a:prstGeom prst="rect">
            <a:avLst/>
          </a:prstGeom>
          <a:solidFill>
            <a:srgbClr val="1677C8"/>
          </a:solidFill>
          <a:ln w="12700">
            <a:solidFill>
              <a:srgbClr val="1677C8">
                <a:alpha val="0"/>
              </a:srgbClr>
            </a:solidFill>
            <a:prstDash val="solid"/>
          </a:ln>
        </p:spPr>
      </p:sp>
      <p:sp>
        <p:nvSpPr>
          <p:cNvPr id="19" name="Text 17"/>
          <p:cNvSpPr txBox="1"/>
          <p:nvPr/>
        </p:nvSpPr>
        <p:spPr>
          <a:xfrm>
            <a:off x="6967728" y="3328416"/>
            <a:ext cx="4251960" cy="640080"/>
          </a:xfrm>
          <a:prstGeom prst="rect">
            <a:avLst/>
          </a:prstGeom>
          <a:noFill/>
          <a:ln/>
        </p:spPr>
        <p:txBody>
          <a:bodyPr wrap="square" lIns="0" tIns="0" rIns="0" bIns="0" rtlCol="0" anchor="t">
            <a:normAutofit/>
          </a:bodyPr>
          <a:lstStyle/>
          <a:p>
            <a:pPr algn="l" indent="0" marL="0">
              <a:buNone/>
            </a:pPr>
            <a:r>
              <a:rPr lang="en-US" sz="1850" dirty="0">
                <a:solidFill>
                  <a:srgbClr val="111827"/>
                </a:solidFill>
                <a:latin typeface="Arial" pitchFamily="34" charset="0"/>
                <a:ea typeface="Arial" pitchFamily="34" charset="-122"/>
                <a:cs typeface="Arial" pitchFamily="34" charset="-120"/>
              </a:rPr>
              <a:t>Safety-critical estimation needs a bounded-error reference.</a:t>
            </a:r>
            <a:endParaRPr lang="en-US" sz="1850" dirty="0"/>
          </a:p>
        </p:txBody>
      </p:sp>
      <p:sp>
        <p:nvSpPr>
          <p:cNvPr id="20" name="Shape 18"/>
          <p:cNvSpPr/>
          <p:nvPr/>
        </p:nvSpPr>
        <p:spPr>
          <a:xfrm>
            <a:off x="6784848" y="4142232"/>
            <a:ext cx="73152" cy="73152"/>
          </a:xfrm>
          <a:prstGeom prst="rect">
            <a:avLst/>
          </a:prstGeom>
          <a:solidFill>
            <a:srgbClr val="1677C8"/>
          </a:solidFill>
          <a:ln w="12700">
            <a:solidFill>
              <a:srgbClr val="1677C8">
                <a:alpha val="0"/>
              </a:srgbClr>
            </a:solidFill>
            <a:prstDash val="solid"/>
          </a:ln>
        </p:spPr>
      </p:sp>
      <p:sp>
        <p:nvSpPr>
          <p:cNvPr id="21" name="Text 19"/>
          <p:cNvSpPr txBox="1"/>
          <p:nvPr/>
        </p:nvSpPr>
        <p:spPr>
          <a:xfrm>
            <a:off x="6967728" y="4041648"/>
            <a:ext cx="4251960" cy="640080"/>
          </a:xfrm>
          <a:prstGeom prst="rect">
            <a:avLst/>
          </a:prstGeom>
          <a:noFill/>
          <a:ln/>
        </p:spPr>
        <p:txBody>
          <a:bodyPr wrap="square" lIns="0" tIns="0" rIns="0" bIns="0" rtlCol="0" anchor="t">
            <a:normAutofit/>
          </a:bodyPr>
          <a:lstStyle/>
          <a:p>
            <a:pPr algn="l" indent="0" marL="0">
              <a:buNone/>
            </a:pPr>
            <a:r>
              <a:rPr lang="en-US" sz="1850" dirty="0">
                <a:solidFill>
                  <a:srgbClr val="111827"/>
                </a:solidFill>
                <a:latin typeface="Arial" pitchFamily="34" charset="0"/>
                <a:ea typeface="Arial" pitchFamily="34" charset="-122"/>
                <a:cs typeface="Arial" pitchFamily="34" charset="-120"/>
              </a:rPr>
              <a:t>Classical UIOs often fail for the available sensor set.</a:t>
            </a:r>
            <a:endParaRPr lang="en-US" sz="1850" dirty="0"/>
          </a:p>
        </p:txBody>
      </p:sp>
      <p:sp>
        <p:nvSpPr>
          <p:cNvPr id="22" name="Shape 20"/>
          <p:cNvSpPr/>
          <p:nvPr/>
        </p:nvSpPr>
        <p:spPr>
          <a:xfrm>
            <a:off x="6720840" y="5074920"/>
            <a:ext cx="4434840" cy="768096"/>
          </a:xfrm>
          <a:prstGeom prst="rect">
            <a:avLst/>
          </a:prstGeom>
          <a:solidFill>
            <a:srgbClr val="DCEEF9"/>
          </a:solidFill>
          <a:ln w="12700">
            <a:solidFill>
              <a:srgbClr val="DCEEF9">
                <a:alpha val="0"/>
              </a:srgbClr>
            </a:solidFill>
            <a:prstDash val="solid"/>
          </a:ln>
        </p:spPr>
      </p:sp>
      <p:sp>
        <p:nvSpPr>
          <p:cNvPr id="23" name="Text 21"/>
          <p:cNvSpPr txBox="1"/>
          <p:nvPr/>
        </p:nvSpPr>
        <p:spPr>
          <a:xfrm>
            <a:off x="6967728" y="5230368"/>
            <a:ext cx="3977640" cy="457200"/>
          </a:xfrm>
          <a:prstGeom prst="rect">
            <a:avLst/>
          </a:prstGeom>
          <a:noFill/>
          <a:ln/>
        </p:spPr>
        <p:txBody>
          <a:bodyPr wrap="square" lIns="0" tIns="0" rIns="0" bIns="0" rtlCol="0" anchor="ctr">
            <a:normAutofit/>
          </a:bodyPr>
          <a:lstStyle/>
          <a:p>
            <a:pPr algn="ctr" indent="0" marL="0">
              <a:buNone/>
            </a:pPr>
            <a:r>
              <a:rPr lang="en-US" sz="1550" b="1" dirty="0">
                <a:solidFill>
                  <a:srgbClr val="105B94"/>
                </a:solidFill>
                <a:latin typeface="Arial" pitchFamily="34" charset="0"/>
                <a:ea typeface="Arial" pitchFamily="34" charset="-122"/>
                <a:cs typeface="Arial" pitchFamily="34" charset="-120"/>
              </a:rPr>
              <a:t>Goal: learn the repeatable part of μₓ while retaining an observer-based guarantee.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MOTIVATION</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03</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Classical UIOs can exclude practical sensor suites</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Exact unknown-input decoupling requires a rank condition that may not hold with the sensors already on the vehicle.</a:t>
            </a:r>
            <a:endParaRPr lang="en-US" sz="1550" dirty="0"/>
          </a:p>
        </p:txBody>
      </p:sp>
      <p:sp>
        <p:nvSpPr>
          <p:cNvPr id="8" name="Shape 6"/>
          <p:cNvSpPr/>
          <p:nvPr/>
        </p:nvSpPr>
        <p:spPr>
          <a:xfrm>
            <a:off x="502920" y="1664208"/>
            <a:ext cx="11155680" cy="1060704"/>
          </a:xfrm>
          <a:prstGeom prst="rect">
            <a:avLst/>
          </a:prstGeom>
          <a:solidFill>
            <a:srgbClr val="111827"/>
          </a:solidFill>
          <a:ln w="12700">
            <a:solidFill>
              <a:srgbClr val="111827">
                <a:alpha val="0"/>
              </a:srgbClr>
            </a:solidFill>
            <a:prstDash val="solid"/>
          </a:ln>
        </p:spPr>
      </p:sp>
      <p:sp>
        <p:nvSpPr>
          <p:cNvPr id="9" name="Text 7"/>
          <p:cNvSpPr txBox="1"/>
          <p:nvPr/>
        </p:nvSpPr>
        <p:spPr>
          <a:xfrm>
            <a:off x="822960" y="1920240"/>
            <a:ext cx="3703320" cy="411480"/>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Arial" pitchFamily="34" charset="0"/>
                <a:ea typeface="Arial" pitchFamily="34" charset="-122"/>
                <a:cs typeface="Arial" pitchFamily="34" charset="-120"/>
              </a:rPr>
              <a:t>rank(CB) = rank(B)</a:t>
            </a:r>
            <a:endParaRPr lang="en-US" sz="3100" dirty="0"/>
          </a:p>
        </p:txBody>
      </p:sp>
      <p:sp>
        <p:nvSpPr>
          <p:cNvPr id="10" name="Text 8"/>
          <p:cNvSpPr txBox="1"/>
          <p:nvPr/>
        </p:nvSpPr>
        <p:spPr>
          <a:xfrm>
            <a:off x="4681728" y="2011680"/>
            <a:ext cx="6309360" cy="219456"/>
          </a:xfrm>
          <a:prstGeom prst="rect">
            <a:avLst/>
          </a:prstGeom>
          <a:noFill/>
          <a:ln/>
        </p:spPr>
        <p:txBody>
          <a:bodyPr wrap="square" lIns="0" tIns="0" rIns="0" bIns="0" rtlCol="0" anchor="t">
            <a:normAutofit/>
          </a:bodyPr>
          <a:lstStyle/>
          <a:p>
            <a:pPr algn="l" indent="0" marL="0">
              <a:buNone/>
            </a:pPr>
            <a:r>
              <a:rPr lang="en-US" sz="1850" dirty="0">
                <a:solidFill>
                  <a:srgbClr val="FFFFFF"/>
                </a:solidFill>
                <a:latin typeface="Arial" pitchFamily="34" charset="0"/>
                <a:ea typeface="Arial" pitchFamily="34" charset="-122"/>
                <a:cs typeface="Arial" pitchFamily="34" charset="-120"/>
              </a:rPr>
              <a:t>Necessary condition for direct unknown-input estimation</a:t>
            </a:r>
            <a:endParaRPr lang="en-US" sz="1850" dirty="0"/>
          </a:p>
        </p:txBody>
      </p:sp>
      <p:sp>
        <p:nvSpPr>
          <p:cNvPr id="11" name="Shape 9"/>
          <p:cNvSpPr/>
          <p:nvPr/>
        </p:nvSpPr>
        <p:spPr>
          <a:xfrm>
            <a:off x="502920" y="3163824"/>
            <a:ext cx="5349240" cy="2157984"/>
          </a:xfrm>
          <a:prstGeom prst="rect">
            <a:avLst/>
          </a:prstGeom>
          <a:solidFill>
            <a:srgbClr val="F3F5F7"/>
          </a:solidFill>
          <a:ln w="12700">
            <a:solidFill>
              <a:srgbClr val="F3F5F7">
                <a:alpha val="0"/>
              </a:srgbClr>
            </a:solidFill>
            <a:prstDash val="solid"/>
          </a:ln>
        </p:spPr>
      </p:sp>
      <p:sp>
        <p:nvSpPr>
          <p:cNvPr id="12" name="Shape 10"/>
          <p:cNvSpPr/>
          <p:nvPr/>
        </p:nvSpPr>
        <p:spPr>
          <a:xfrm>
            <a:off x="749808" y="3429000"/>
            <a:ext cx="1865376" cy="256032"/>
          </a:xfrm>
          <a:prstGeom prst="rect">
            <a:avLst/>
          </a:prstGeom>
          <a:solidFill>
            <a:srgbClr val="2FAE75"/>
          </a:solidFill>
          <a:ln w="12700">
            <a:solidFill>
              <a:srgbClr val="2FAE75">
                <a:alpha val="0"/>
              </a:srgbClr>
            </a:solidFill>
            <a:prstDash val="solid"/>
          </a:ln>
        </p:spPr>
      </p:sp>
      <p:sp>
        <p:nvSpPr>
          <p:cNvPr id="13" name="Text 11"/>
          <p:cNvSpPr txBox="1"/>
          <p:nvPr/>
        </p:nvSpPr>
        <p:spPr>
          <a:xfrm>
            <a:off x="841248" y="3483864"/>
            <a:ext cx="1682496" cy="128016"/>
          </a:xfrm>
          <a:prstGeom prst="rect">
            <a:avLst/>
          </a:prstGeom>
          <a:noFill/>
          <a:ln/>
        </p:spPr>
        <p:txBody>
          <a:bodyPr wrap="square" lIns="0" tIns="0" rIns="0" bIns="0" rtlCol="0" anchor="t">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IF THE CONDITION HOLDS</a:t>
            </a:r>
            <a:endParaRPr lang="en-US" sz="950" dirty="0"/>
          </a:p>
        </p:txBody>
      </p:sp>
      <p:sp>
        <p:nvSpPr>
          <p:cNvPr id="14" name="Shape 12"/>
          <p:cNvSpPr/>
          <p:nvPr/>
        </p:nvSpPr>
        <p:spPr>
          <a:xfrm>
            <a:off x="804672" y="3977640"/>
            <a:ext cx="73152" cy="73152"/>
          </a:xfrm>
          <a:prstGeom prst="rect">
            <a:avLst/>
          </a:prstGeom>
          <a:solidFill>
            <a:srgbClr val="2FAE75"/>
          </a:solidFill>
          <a:ln w="12700">
            <a:solidFill>
              <a:srgbClr val="2FAE75">
                <a:alpha val="0"/>
              </a:srgbClr>
            </a:solidFill>
            <a:prstDash val="solid"/>
          </a:ln>
        </p:spPr>
      </p:sp>
      <p:sp>
        <p:nvSpPr>
          <p:cNvPr id="15" name="Text 13"/>
          <p:cNvSpPr txBox="1"/>
          <p:nvPr/>
        </p:nvSpPr>
        <p:spPr>
          <a:xfrm>
            <a:off x="987552" y="3877056"/>
            <a:ext cx="4389120" cy="502920"/>
          </a:xfrm>
          <a:prstGeom prst="rect">
            <a:avLst/>
          </a:prstGeom>
          <a:noFill/>
          <a:ln/>
        </p:spPr>
        <p:txBody>
          <a:bodyPr wrap="square" lIns="0" tIns="0" rIns="0" bIns="0" rtlCol="0" anchor="t">
            <a:normAutofit/>
          </a:bodyPr>
          <a:lstStyle/>
          <a:p>
            <a:pPr algn="l" indent="0" marL="0">
              <a:buNone/>
            </a:pPr>
            <a:r>
              <a:rPr lang="en-US" sz="1850" dirty="0">
                <a:solidFill>
                  <a:srgbClr val="111827"/>
                </a:solidFill>
                <a:latin typeface="Arial" pitchFamily="34" charset="0"/>
                <a:ea typeface="Arial" pitchFamily="34" charset="-122"/>
                <a:cs typeface="Arial" pitchFamily="34" charset="-120"/>
              </a:rPr>
              <a:t>A classical UIO can decouple the unknown input.</a:t>
            </a:r>
            <a:endParaRPr lang="en-US" sz="1850" dirty="0"/>
          </a:p>
        </p:txBody>
      </p:sp>
      <p:sp>
        <p:nvSpPr>
          <p:cNvPr id="16" name="Shape 14"/>
          <p:cNvSpPr/>
          <p:nvPr/>
        </p:nvSpPr>
        <p:spPr>
          <a:xfrm>
            <a:off x="804672" y="4553712"/>
            <a:ext cx="73152" cy="73152"/>
          </a:xfrm>
          <a:prstGeom prst="rect">
            <a:avLst/>
          </a:prstGeom>
          <a:solidFill>
            <a:srgbClr val="2FAE75"/>
          </a:solidFill>
          <a:ln w="12700">
            <a:solidFill>
              <a:srgbClr val="2FAE75">
                <a:alpha val="0"/>
              </a:srgbClr>
            </a:solidFill>
            <a:prstDash val="solid"/>
          </a:ln>
        </p:spPr>
      </p:sp>
      <p:sp>
        <p:nvSpPr>
          <p:cNvPr id="17" name="Text 15"/>
          <p:cNvSpPr txBox="1"/>
          <p:nvPr/>
        </p:nvSpPr>
        <p:spPr>
          <a:xfrm>
            <a:off x="987552" y="4453128"/>
            <a:ext cx="4389120" cy="502920"/>
          </a:xfrm>
          <a:prstGeom prst="rect">
            <a:avLst/>
          </a:prstGeom>
          <a:noFill/>
          <a:ln/>
        </p:spPr>
        <p:txBody>
          <a:bodyPr wrap="square" lIns="0" tIns="0" rIns="0" bIns="0" rtlCol="0" anchor="t">
            <a:normAutofit/>
          </a:bodyPr>
          <a:lstStyle/>
          <a:p>
            <a:pPr algn="l" indent="0" marL="0">
              <a:buNone/>
            </a:pPr>
            <a:r>
              <a:rPr lang="en-US" sz="1850" dirty="0">
                <a:solidFill>
                  <a:srgbClr val="111827"/>
                </a:solidFill>
                <a:latin typeface="Arial" pitchFamily="34" charset="0"/>
                <a:ea typeface="Arial" pitchFamily="34" charset="-122"/>
                <a:cs typeface="Arial" pitchFamily="34" charset="-120"/>
              </a:rPr>
              <a:t>In the ideal case, estimation errors converge exponentially.</a:t>
            </a:r>
            <a:endParaRPr lang="en-US" sz="1850" dirty="0"/>
          </a:p>
        </p:txBody>
      </p:sp>
      <p:sp>
        <p:nvSpPr>
          <p:cNvPr id="18" name="Shape 16"/>
          <p:cNvSpPr/>
          <p:nvPr/>
        </p:nvSpPr>
        <p:spPr>
          <a:xfrm>
            <a:off x="6291072" y="3163824"/>
            <a:ext cx="5367528" cy="2157984"/>
          </a:xfrm>
          <a:prstGeom prst="rect">
            <a:avLst/>
          </a:prstGeom>
          <a:solidFill>
            <a:srgbClr val="FBECE8"/>
          </a:solidFill>
          <a:ln w="12700">
            <a:solidFill>
              <a:srgbClr val="FBECE8">
                <a:alpha val="0"/>
              </a:srgbClr>
            </a:solidFill>
            <a:prstDash val="solid"/>
          </a:ln>
        </p:spPr>
      </p:sp>
      <p:sp>
        <p:nvSpPr>
          <p:cNvPr id="19" name="Shape 17"/>
          <p:cNvSpPr/>
          <p:nvPr/>
        </p:nvSpPr>
        <p:spPr>
          <a:xfrm>
            <a:off x="6537960" y="3429000"/>
            <a:ext cx="1325880" cy="256032"/>
          </a:xfrm>
          <a:prstGeom prst="rect">
            <a:avLst/>
          </a:prstGeom>
          <a:solidFill>
            <a:srgbClr val="E5543D"/>
          </a:solidFill>
          <a:ln w="12700">
            <a:solidFill>
              <a:srgbClr val="E5543D">
                <a:alpha val="0"/>
              </a:srgbClr>
            </a:solidFill>
            <a:prstDash val="solid"/>
          </a:ln>
        </p:spPr>
      </p:sp>
      <p:sp>
        <p:nvSpPr>
          <p:cNvPr id="20" name="Text 18"/>
          <p:cNvSpPr txBox="1"/>
          <p:nvPr/>
        </p:nvSpPr>
        <p:spPr>
          <a:xfrm>
            <a:off x="6629400" y="3483864"/>
            <a:ext cx="1143000" cy="128016"/>
          </a:xfrm>
          <a:prstGeom prst="rect">
            <a:avLst/>
          </a:prstGeom>
          <a:noFill/>
          <a:ln/>
        </p:spPr>
        <p:txBody>
          <a:bodyPr wrap="square" lIns="0" tIns="0" rIns="0" bIns="0" rtlCol="0" anchor="t">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IF IT FAILS</a:t>
            </a:r>
            <a:endParaRPr lang="en-US" sz="950" dirty="0"/>
          </a:p>
        </p:txBody>
      </p:sp>
      <p:sp>
        <p:nvSpPr>
          <p:cNvPr id="21" name="Shape 19"/>
          <p:cNvSpPr/>
          <p:nvPr/>
        </p:nvSpPr>
        <p:spPr>
          <a:xfrm>
            <a:off x="6592824" y="3977640"/>
            <a:ext cx="73152" cy="73152"/>
          </a:xfrm>
          <a:prstGeom prst="rect">
            <a:avLst/>
          </a:prstGeom>
          <a:solidFill>
            <a:srgbClr val="E5543D"/>
          </a:solidFill>
          <a:ln w="12700">
            <a:solidFill>
              <a:srgbClr val="E5543D">
                <a:alpha val="0"/>
              </a:srgbClr>
            </a:solidFill>
            <a:prstDash val="solid"/>
          </a:ln>
        </p:spPr>
      </p:sp>
      <p:sp>
        <p:nvSpPr>
          <p:cNvPr id="22" name="Text 20"/>
          <p:cNvSpPr txBox="1"/>
          <p:nvPr/>
        </p:nvSpPr>
        <p:spPr>
          <a:xfrm>
            <a:off x="6775704" y="3877056"/>
            <a:ext cx="4389120" cy="502920"/>
          </a:xfrm>
          <a:prstGeom prst="rect">
            <a:avLst/>
          </a:prstGeom>
          <a:noFill/>
          <a:ln/>
        </p:spPr>
        <p:txBody>
          <a:bodyPr wrap="square" lIns="0" tIns="0" rIns="0" bIns="0" rtlCol="0" anchor="t">
            <a:normAutofit/>
          </a:bodyPr>
          <a:lstStyle/>
          <a:p>
            <a:pPr algn="l" indent="0" marL="0">
              <a:buNone/>
            </a:pPr>
            <a:r>
              <a:rPr lang="en-US" sz="1850" dirty="0">
                <a:solidFill>
                  <a:srgbClr val="111827"/>
                </a:solidFill>
                <a:latin typeface="Arial" pitchFamily="34" charset="0"/>
                <a:ea typeface="Arial" pitchFamily="34" charset="-122"/>
                <a:cs typeface="Arial" pitchFamily="34" charset="-120"/>
              </a:rPr>
              <a:t>Sensor limitations can prevent exact decoupling.</a:t>
            </a:r>
            <a:endParaRPr lang="en-US" sz="1850" dirty="0"/>
          </a:p>
        </p:txBody>
      </p:sp>
      <p:sp>
        <p:nvSpPr>
          <p:cNvPr id="23" name="Shape 21"/>
          <p:cNvSpPr/>
          <p:nvPr/>
        </p:nvSpPr>
        <p:spPr>
          <a:xfrm>
            <a:off x="6592824" y="4553712"/>
            <a:ext cx="73152" cy="73152"/>
          </a:xfrm>
          <a:prstGeom prst="rect">
            <a:avLst/>
          </a:prstGeom>
          <a:solidFill>
            <a:srgbClr val="E5543D"/>
          </a:solidFill>
          <a:ln w="12700">
            <a:solidFill>
              <a:srgbClr val="E5543D">
                <a:alpha val="0"/>
              </a:srgbClr>
            </a:solidFill>
            <a:prstDash val="solid"/>
          </a:ln>
        </p:spPr>
      </p:sp>
      <p:sp>
        <p:nvSpPr>
          <p:cNvPr id="24" name="Text 22"/>
          <p:cNvSpPr txBox="1"/>
          <p:nvPr/>
        </p:nvSpPr>
        <p:spPr>
          <a:xfrm>
            <a:off x="6775704" y="4453128"/>
            <a:ext cx="4389120" cy="502920"/>
          </a:xfrm>
          <a:prstGeom prst="rect">
            <a:avLst/>
          </a:prstGeom>
          <a:noFill/>
          <a:ln/>
        </p:spPr>
        <p:txBody>
          <a:bodyPr wrap="square" lIns="0" tIns="0" rIns="0" bIns="0" rtlCol="0" anchor="t">
            <a:normAutofit/>
          </a:bodyPr>
          <a:lstStyle/>
          <a:p>
            <a:pPr algn="l" indent="0" marL="0">
              <a:buNone/>
            </a:pPr>
            <a:r>
              <a:rPr lang="en-US" sz="1850" dirty="0">
                <a:solidFill>
                  <a:srgbClr val="111827"/>
                </a:solidFill>
                <a:latin typeface="Arial" pitchFamily="34" charset="0"/>
                <a:ea typeface="Arial" pitchFamily="34" charset="-122"/>
                <a:cs typeface="Arial" pitchFamily="34" charset="-120"/>
              </a:rPr>
              <a:t>Common workarounds amplify noise, add sensors, or restrict disturbance dynamics.</a:t>
            </a:r>
            <a:endParaRPr lang="en-US" sz="1850" dirty="0"/>
          </a:p>
        </p:txBody>
      </p:sp>
      <p:sp>
        <p:nvSpPr>
          <p:cNvPr id="25" name="Text 23"/>
          <p:cNvSpPr txBox="1"/>
          <p:nvPr/>
        </p:nvSpPr>
        <p:spPr>
          <a:xfrm>
            <a:off x="502920" y="5577840"/>
            <a:ext cx="10607040" cy="438912"/>
          </a:xfrm>
          <a:prstGeom prst="rect">
            <a:avLst/>
          </a:prstGeom>
          <a:noFill/>
          <a:ln/>
        </p:spPr>
        <p:txBody>
          <a:bodyPr wrap="square" lIns="0" tIns="0" rIns="0" bIns="0" rtlCol="0" anchor="ctr">
            <a:normAutofit/>
          </a:bodyPr>
          <a:lstStyle/>
          <a:p>
            <a:pPr algn="l" indent="0" marL="0">
              <a:buNone/>
            </a:pPr>
            <a:r>
              <a:rPr lang="en-US" sz="1850" b="1" dirty="0">
                <a:solidFill>
                  <a:srgbClr val="1677C8"/>
                </a:solidFill>
                <a:latin typeface="Arial" pitchFamily="34" charset="0"/>
                <a:ea typeface="Arial" pitchFamily="34" charset="-122"/>
                <a:cs typeface="Arial" pitchFamily="34" charset="-120"/>
              </a:rPr>
              <a:t>This motivates a bounded first estimate rather than demanding exactness immediately.</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LAYER 1 · REGULARIZED UIO</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04</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Regularization yields a controlled H¹ error bound</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A rank-restoring rewrite is algebraically equivalent to the original system; the induced terms are treated as bounded disturbances.</a:t>
            </a:r>
            <a:endParaRPr lang="en-US" sz="1550" dirty="0"/>
          </a:p>
        </p:txBody>
      </p:sp>
      <p:sp>
        <p:nvSpPr>
          <p:cNvPr id="8" name="Shape 6"/>
          <p:cNvSpPr/>
          <p:nvPr/>
        </p:nvSpPr>
        <p:spPr>
          <a:xfrm>
            <a:off x="3182112" y="3566160"/>
            <a:ext cx="713232" cy="0"/>
          </a:xfrm>
          <a:prstGeom prst="line">
            <a:avLst/>
          </a:prstGeom>
          <a:noFill/>
          <a:ln w="25400">
            <a:solidFill>
              <a:srgbClr val="1677C8"/>
            </a:solidFill>
            <a:prstDash val="solid"/>
            <a:headEnd type="none"/>
            <a:tailEnd type="triangle"/>
          </a:ln>
        </p:spPr>
      </p:sp>
      <p:sp>
        <p:nvSpPr>
          <p:cNvPr id="9" name="Shape 7"/>
          <p:cNvSpPr/>
          <p:nvPr/>
        </p:nvSpPr>
        <p:spPr>
          <a:xfrm>
            <a:off x="6903720" y="3566160"/>
            <a:ext cx="713232" cy="0"/>
          </a:xfrm>
          <a:prstGeom prst="line">
            <a:avLst/>
          </a:prstGeom>
          <a:noFill/>
          <a:ln w="25400">
            <a:solidFill>
              <a:srgbClr val="1677C8"/>
            </a:solidFill>
            <a:prstDash val="solid"/>
            <a:headEnd type="none"/>
            <a:tailEnd type="triangle"/>
          </a:ln>
        </p:spPr>
      </p:sp>
      <p:sp>
        <p:nvSpPr>
          <p:cNvPr id="10" name="Shape 8"/>
          <p:cNvSpPr/>
          <p:nvPr/>
        </p:nvSpPr>
        <p:spPr>
          <a:xfrm>
            <a:off x="502920" y="2304288"/>
            <a:ext cx="2670048" cy="2359152"/>
          </a:xfrm>
          <a:prstGeom prst="rect">
            <a:avLst/>
          </a:prstGeom>
          <a:solidFill>
            <a:srgbClr val="F3F5F7"/>
          </a:solidFill>
          <a:ln w="10160">
            <a:solidFill>
              <a:srgbClr val="E8EDF1"/>
            </a:solidFill>
            <a:prstDash val="solid"/>
          </a:ln>
        </p:spPr>
      </p:sp>
      <p:sp>
        <p:nvSpPr>
          <p:cNvPr id="11" name="Shape 9"/>
          <p:cNvSpPr/>
          <p:nvPr/>
        </p:nvSpPr>
        <p:spPr>
          <a:xfrm>
            <a:off x="3904488" y="2304288"/>
            <a:ext cx="2999232" cy="2359152"/>
          </a:xfrm>
          <a:prstGeom prst="rect">
            <a:avLst/>
          </a:prstGeom>
          <a:solidFill>
            <a:srgbClr val="DCEEF9"/>
          </a:solidFill>
          <a:ln w="10160">
            <a:solidFill>
              <a:srgbClr val="B8DDF3"/>
            </a:solidFill>
            <a:prstDash val="solid"/>
          </a:ln>
        </p:spPr>
      </p:sp>
      <p:sp>
        <p:nvSpPr>
          <p:cNvPr id="12" name="Shape 10"/>
          <p:cNvSpPr/>
          <p:nvPr/>
        </p:nvSpPr>
        <p:spPr>
          <a:xfrm>
            <a:off x="7616952" y="2304288"/>
            <a:ext cx="4041648" cy="2359152"/>
          </a:xfrm>
          <a:prstGeom prst="rect">
            <a:avLst/>
          </a:prstGeom>
          <a:solidFill>
            <a:srgbClr val="F3F5F7"/>
          </a:solidFill>
          <a:ln w="10160">
            <a:solidFill>
              <a:srgbClr val="E8EDF1"/>
            </a:solidFill>
            <a:prstDash val="solid"/>
          </a:ln>
        </p:spPr>
      </p:sp>
      <p:sp>
        <p:nvSpPr>
          <p:cNvPr id="13" name="Shape 11"/>
          <p:cNvSpPr/>
          <p:nvPr/>
        </p:nvSpPr>
        <p:spPr>
          <a:xfrm>
            <a:off x="768096" y="2569464"/>
            <a:ext cx="1490472" cy="256032"/>
          </a:xfrm>
          <a:prstGeom prst="rect">
            <a:avLst/>
          </a:prstGeom>
          <a:solidFill>
            <a:srgbClr val="111827"/>
          </a:solidFill>
          <a:ln w="12700">
            <a:solidFill>
              <a:srgbClr val="111827">
                <a:alpha val="0"/>
              </a:srgbClr>
            </a:solidFill>
            <a:prstDash val="solid"/>
          </a:ln>
        </p:spPr>
      </p:sp>
      <p:sp>
        <p:nvSpPr>
          <p:cNvPr id="14" name="Text 12"/>
          <p:cNvSpPr txBox="1"/>
          <p:nvPr/>
        </p:nvSpPr>
        <p:spPr>
          <a:xfrm>
            <a:off x="859536" y="2624328"/>
            <a:ext cx="1307592" cy="128016"/>
          </a:xfrm>
          <a:prstGeom prst="rect">
            <a:avLst/>
          </a:prstGeom>
          <a:noFill/>
          <a:ln/>
        </p:spPr>
        <p:txBody>
          <a:bodyPr wrap="square" lIns="0" tIns="0" rIns="0" bIns="0" rtlCol="0" anchor="t">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ORIGINAL SYSTEM</a:t>
            </a:r>
            <a:endParaRPr lang="en-US" sz="950" dirty="0"/>
          </a:p>
        </p:txBody>
      </p:sp>
      <p:sp>
        <p:nvSpPr>
          <p:cNvPr id="15" name="Text 13"/>
          <p:cNvSpPr txBox="1"/>
          <p:nvPr/>
        </p:nvSpPr>
        <p:spPr>
          <a:xfrm>
            <a:off x="768096" y="3127248"/>
            <a:ext cx="1847088" cy="694944"/>
          </a:xfrm>
          <a:prstGeom prst="rect">
            <a:avLst/>
          </a:prstGeom>
          <a:noFill/>
          <a:ln/>
        </p:spPr>
        <p:txBody>
          <a:bodyPr wrap="square" lIns="0" tIns="0" rIns="0" bIns="0" rtlCol="0" anchor="t">
            <a:normAutofit/>
          </a:bodyPr>
          <a:lstStyle/>
          <a:p>
            <a:pPr algn="l" indent="0" marL="0">
              <a:buNone/>
            </a:pPr>
            <a:r>
              <a:rPr lang="en-US" sz="2300" dirty="0">
                <a:solidFill>
                  <a:srgbClr val="111827"/>
                </a:solidFill>
                <a:latin typeface="Arial" pitchFamily="34" charset="0"/>
                <a:ea typeface="Arial" pitchFamily="34" charset="-122"/>
                <a:cs typeface="Arial" pitchFamily="34" charset="-120"/>
              </a:rPr>
              <a:t>ẋ = φ(x,u) + Bμₓ</a:t>
            </a:r>
            <a:endParaRPr lang="en-US" sz="2300" dirty="0"/>
          </a:p>
          <a:p>
            <a:pPr algn="l" indent="0" marL="0">
              <a:buNone/>
            </a:pPr>
            <a:r>
              <a:rPr lang="en-US" sz="2300" dirty="0">
                <a:solidFill>
                  <a:srgbClr val="111827"/>
                </a:solidFill>
                <a:latin typeface="Arial" pitchFamily="34" charset="0"/>
                <a:ea typeface="Arial" pitchFamily="34" charset="-122"/>
                <a:cs typeface="Arial" pitchFamily="34" charset="-120"/>
              </a:rPr>
              <a:t>y = Cx</a:t>
            </a:r>
            <a:endParaRPr lang="en-US" sz="2300" dirty="0"/>
          </a:p>
        </p:txBody>
      </p:sp>
      <p:sp>
        <p:nvSpPr>
          <p:cNvPr id="16" name="Shape 14"/>
          <p:cNvSpPr/>
          <p:nvPr/>
        </p:nvSpPr>
        <p:spPr>
          <a:xfrm>
            <a:off x="4197096" y="2569464"/>
            <a:ext cx="1828800" cy="256032"/>
          </a:xfrm>
          <a:prstGeom prst="rect">
            <a:avLst/>
          </a:prstGeom>
          <a:solidFill>
            <a:srgbClr val="1677C8"/>
          </a:solidFill>
          <a:ln w="12700">
            <a:solidFill>
              <a:srgbClr val="1677C8">
                <a:alpha val="0"/>
              </a:srgbClr>
            </a:solidFill>
            <a:prstDash val="solid"/>
          </a:ln>
        </p:spPr>
      </p:sp>
      <p:sp>
        <p:nvSpPr>
          <p:cNvPr id="17" name="Text 15"/>
          <p:cNvSpPr txBox="1"/>
          <p:nvPr/>
        </p:nvSpPr>
        <p:spPr>
          <a:xfrm>
            <a:off x="4288536" y="2624328"/>
            <a:ext cx="1645920" cy="128016"/>
          </a:xfrm>
          <a:prstGeom prst="rect">
            <a:avLst/>
          </a:prstGeom>
          <a:noFill/>
          <a:ln/>
        </p:spPr>
        <p:txBody>
          <a:bodyPr wrap="square" lIns="0" tIns="0" rIns="0" bIns="0" rtlCol="0" anchor="t">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REGULARIZE</a:t>
            </a:r>
            <a:endParaRPr lang="en-US" sz="950" dirty="0"/>
          </a:p>
        </p:txBody>
      </p:sp>
      <p:sp>
        <p:nvSpPr>
          <p:cNvPr id="18" name="Text 16"/>
          <p:cNvSpPr txBox="1"/>
          <p:nvPr/>
        </p:nvSpPr>
        <p:spPr>
          <a:xfrm>
            <a:off x="4206240" y="3127248"/>
            <a:ext cx="2359152" cy="694944"/>
          </a:xfrm>
          <a:prstGeom prst="rect">
            <a:avLst/>
          </a:prstGeom>
          <a:noFill/>
          <a:ln/>
        </p:spPr>
        <p:txBody>
          <a:bodyPr wrap="square" lIns="0" tIns="0" rIns="0" bIns="0" rtlCol="0" anchor="t">
            <a:normAutofit/>
          </a:bodyPr>
          <a:lstStyle/>
          <a:p>
            <a:pPr algn="ctr" indent="0" marL="0">
              <a:buNone/>
            </a:pPr>
            <a:r>
              <a:rPr lang="en-US" sz="1950" b="1" dirty="0">
                <a:solidFill>
                  <a:srgbClr val="105B94"/>
                </a:solidFill>
                <a:latin typeface="Arial" pitchFamily="34" charset="0"/>
                <a:ea typeface="Arial" pitchFamily="34" charset="-122"/>
                <a:cs typeface="Arial" pitchFamily="34" charset="-120"/>
              </a:rPr>
              <a:t>Eδ₁ μ̇ₓ  and  Dδ₂ μₓ</a:t>
            </a:r>
            <a:endParaRPr lang="en-US" sz="1950" dirty="0"/>
          </a:p>
          <a:p>
            <a:pPr algn="ctr" indent="0" marL="0">
              <a:buNone/>
            </a:pPr>
            <a:r>
              <a:rPr lang="en-US" sz="1950" b="1" dirty="0">
                <a:solidFill>
                  <a:srgbClr val="105B94"/>
                </a:solidFill>
                <a:latin typeface="Arial" pitchFamily="34" charset="0"/>
                <a:ea typeface="Arial" pitchFamily="34" charset="-122"/>
                <a:cs typeface="Arial" pitchFamily="34" charset="-120"/>
              </a:rPr>
              <a:t>are added and subtracted</a:t>
            </a:r>
            <a:endParaRPr lang="en-US" sz="1950" dirty="0"/>
          </a:p>
        </p:txBody>
      </p:sp>
      <p:sp>
        <p:nvSpPr>
          <p:cNvPr id="19" name="Shape 17"/>
          <p:cNvSpPr/>
          <p:nvPr/>
        </p:nvSpPr>
        <p:spPr>
          <a:xfrm>
            <a:off x="7918704" y="2569464"/>
            <a:ext cx="1444752" cy="256032"/>
          </a:xfrm>
          <a:prstGeom prst="rect">
            <a:avLst/>
          </a:prstGeom>
          <a:solidFill>
            <a:srgbClr val="2FAE75"/>
          </a:solidFill>
          <a:ln w="12700">
            <a:solidFill>
              <a:srgbClr val="2FAE75">
                <a:alpha val="0"/>
              </a:srgbClr>
            </a:solidFill>
            <a:prstDash val="solid"/>
          </a:ln>
        </p:spPr>
      </p:sp>
      <p:sp>
        <p:nvSpPr>
          <p:cNvPr id="20" name="Text 18"/>
          <p:cNvSpPr txBox="1"/>
          <p:nvPr/>
        </p:nvSpPr>
        <p:spPr>
          <a:xfrm>
            <a:off x="8010144" y="2624328"/>
            <a:ext cx="1261872" cy="128016"/>
          </a:xfrm>
          <a:prstGeom prst="rect">
            <a:avLst/>
          </a:prstGeom>
          <a:noFill/>
          <a:ln/>
        </p:spPr>
        <p:txBody>
          <a:bodyPr wrap="square" lIns="0" tIns="0" rIns="0" bIns="0" rtlCol="0" anchor="t">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OBSERVER DESIGN</a:t>
            </a:r>
            <a:endParaRPr lang="en-US" sz="950" dirty="0"/>
          </a:p>
        </p:txBody>
      </p:sp>
      <p:sp>
        <p:nvSpPr>
          <p:cNvPr id="21" name="Text 19"/>
          <p:cNvSpPr txBox="1"/>
          <p:nvPr/>
        </p:nvSpPr>
        <p:spPr>
          <a:xfrm>
            <a:off x="7918704" y="3081528"/>
            <a:ext cx="3090672" cy="932688"/>
          </a:xfrm>
          <a:prstGeom prst="rect">
            <a:avLst/>
          </a:prstGeom>
          <a:noFill/>
          <a:ln/>
        </p:spPr>
        <p:txBody>
          <a:bodyPr wrap="square" lIns="0" tIns="0" rIns="0" bIns="0" rtlCol="0" anchor="t">
            <a:normAutofit/>
          </a:bodyPr>
          <a:lstStyle/>
          <a:p>
            <a:pPr algn="l" indent="0" marL="0">
              <a:buNone/>
            </a:pPr>
            <a:r>
              <a:rPr lang="en-US" sz="1930" dirty="0">
                <a:solidFill>
                  <a:srgbClr val="111827"/>
                </a:solidFill>
                <a:latin typeface="Arial" pitchFamily="34" charset="0"/>
                <a:ea typeface="Arial" pitchFamily="34" charset="-122"/>
                <a:cs typeface="Arial" pitchFamily="34" charset="-120"/>
              </a:rPr>
              <a:t>The remaining terms become ωδ.</a:t>
            </a:r>
            <a:endParaRPr lang="en-US" sz="1930" dirty="0"/>
          </a:p>
          <a:p>
            <a:pPr algn="l" indent="0" marL="0">
              <a:buNone/>
            </a:pPr>
            <a:r>
              <a:rPr lang="en-US" sz="1930" dirty="0">
                <a:solidFill>
                  <a:srgbClr val="111827"/>
                </a:solidFill>
                <a:latin typeface="Arial" pitchFamily="34" charset="0"/>
                <a:ea typeface="Arial" pitchFamily="34" charset="-122"/>
                <a:cs typeface="Arial" pitchFamily="34" charset="-120"/>
              </a:rPr>
              <a:t>LMI design minimizes their effect</a:t>
            </a:r>
            <a:endParaRPr lang="en-US" sz="1930" dirty="0"/>
          </a:p>
          <a:p>
            <a:pPr algn="l" indent="0" marL="0">
              <a:buNone/>
            </a:pPr>
            <a:r>
              <a:rPr lang="en-US" sz="1930" dirty="0">
                <a:solidFill>
                  <a:srgbClr val="111827"/>
                </a:solidFill>
                <a:latin typeface="Arial" pitchFamily="34" charset="0"/>
                <a:ea typeface="Arial" pitchFamily="34" charset="-122"/>
                <a:cs typeface="Arial" pitchFamily="34" charset="-120"/>
              </a:rPr>
              <a:t>on the augmented error.</a:t>
            </a:r>
            <a:endParaRPr lang="en-US" sz="1930" dirty="0"/>
          </a:p>
        </p:txBody>
      </p:sp>
      <p:sp>
        <p:nvSpPr>
          <p:cNvPr id="22" name="Shape 20"/>
          <p:cNvSpPr/>
          <p:nvPr/>
        </p:nvSpPr>
        <p:spPr>
          <a:xfrm>
            <a:off x="502920" y="5230368"/>
            <a:ext cx="11155680" cy="566928"/>
          </a:xfrm>
          <a:prstGeom prst="rect">
            <a:avLst/>
          </a:prstGeom>
          <a:solidFill>
            <a:srgbClr val="111827"/>
          </a:solidFill>
          <a:ln w="12700">
            <a:solidFill>
              <a:srgbClr val="111827">
                <a:alpha val="0"/>
              </a:srgbClr>
            </a:solidFill>
            <a:prstDash val="solid"/>
          </a:ln>
        </p:spPr>
      </p:sp>
      <p:sp>
        <p:nvSpPr>
          <p:cNvPr id="23" name="Text 21"/>
          <p:cNvSpPr txBox="1"/>
          <p:nvPr/>
        </p:nvSpPr>
        <p:spPr>
          <a:xfrm>
            <a:off x="822960" y="5404104"/>
            <a:ext cx="10515600" cy="219456"/>
          </a:xfrm>
          <a:prstGeom prst="rect">
            <a:avLst/>
          </a:prstGeom>
          <a:noFill/>
          <a:ln/>
        </p:spPr>
        <p:txBody>
          <a:bodyPr wrap="square" lIns="0" tIns="0" rIns="0" bIns="0" rtlCol="0" anchor="t">
            <a:normAutofit/>
          </a:bodyPr>
          <a:lstStyle/>
          <a:p>
            <a:pPr algn="ctr" indent="0" marL="0">
              <a:buNone/>
            </a:pPr>
            <a:r>
              <a:rPr lang="en-US" sz="1950" dirty="0">
                <a:solidFill>
                  <a:srgbClr val="FFFFFF"/>
                </a:solidFill>
                <a:latin typeface="Arial" pitchFamily="34" charset="0"/>
                <a:ea typeface="Arial" pitchFamily="34" charset="-122"/>
                <a:cs typeface="Arial" pitchFamily="34" charset="-120"/>
              </a:rPr>
              <a:t>‖ẑ − z‖H¹  ≤  λδ ‖μₓ‖H¹ + β‖ξ₀‖    ·    λδ is explicitly driven by δ₁ and δ₂</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LAYER 1 · GENERALIZED UIO</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05</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Output derivatives recover the strong case</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The generalized observer augments the model with the measured output and a filtered derivative state.</a:t>
            </a:r>
            <a:endParaRPr lang="en-US" sz="1550" dirty="0"/>
          </a:p>
        </p:txBody>
      </p:sp>
      <p:sp>
        <p:nvSpPr>
          <p:cNvPr id="8" name="Shape 6"/>
          <p:cNvSpPr/>
          <p:nvPr/>
        </p:nvSpPr>
        <p:spPr>
          <a:xfrm>
            <a:off x="2688336" y="3291840"/>
            <a:ext cx="512064" cy="0"/>
          </a:xfrm>
          <a:prstGeom prst="line">
            <a:avLst/>
          </a:prstGeom>
          <a:noFill/>
          <a:ln w="17780">
            <a:solidFill>
              <a:srgbClr val="52606D"/>
            </a:solidFill>
            <a:prstDash val="solid"/>
            <a:headEnd type="none"/>
            <a:tailEnd type="triangle"/>
          </a:ln>
        </p:spPr>
      </p:sp>
      <p:sp>
        <p:nvSpPr>
          <p:cNvPr id="9" name="Shape 7"/>
          <p:cNvSpPr/>
          <p:nvPr/>
        </p:nvSpPr>
        <p:spPr>
          <a:xfrm>
            <a:off x="5724144" y="3291840"/>
            <a:ext cx="512064" cy="0"/>
          </a:xfrm>
          <a:prstGeom prst="line">
            <a:avLst/>
          </a:prstGeom>
          <a:noFill/>
          <a:ln w="17780">
            <a:solidFill>
              <a:srgbClr val="52606D"/>
            </a:solidFill>
            <a:prstDash val="solid"/>
            <a:headEnd type="none"/>
            <a:tailEnd type="triangle"/>
          </a:ln>
        </p:spPr>
      </p:sp>
      <p:sp>
        <p:nvSpPr>
          <p:cNvPr id="10" name="Shape 8"/>
          <p:cNvSpPr/>
          <p:nvPr/>
        </p:nvSpPr>
        <p:spPr>
          <a:xfrm>
            <a:off x="8741664" y="3291840"/>
            <a:ext cx="502920" cy="0"/>
          </a:xfrm>
          <a:prstGeom prst="line">
            <a:avLst/>
          </a:prstGeom>
          <a:noFill/>
          <a:ln w="17780">
            <a:solidFill>
              <a:srgbClr val="52606D"/>
            </a:solidFill>
            <a:prstDash val="solid"/>
            <a:headEnd type="none"/>
            <a:tailEnd type="triangle"/>
          </a:ln>
        </p:spPr>
      </p:sp>
      <p:sp>
        <p:nvSpPr>
          <p:cNvPr id="11" name="Shape 9"/>
          <p:cNvSpPr/>
          <p:nvPr/>
        </p:nvSpPr>
        <p:spPr>
          <a:xfrm>
            <a:off x="566928" y="2596896"/>
            <a:ext cx="2121408" cy="1417320"/>
          </a:xfrm>
          <a:prstGeom prst="rect">
            <a:avLst/>
          </a:prstGeom>
          <a:solidFill>
            <a:srgbClr val="F3F5F7"/>
          </a:solidFill>
          <a:ln w="10160">
            <a:solidFill>
              <a:srgbClr val="E8EDF1"/>
            </a:solidFill>
            <a:prstDash val="solid"/>
          </a:ln>
        </p:spPr>
      </p:sp>
      <p:sp>
        <p:nvSpPr>
          <p:cNvPr id="12" name="Shape 10"/>
          <p:cNvSpPr/>
          <p:nvPr/>
        </p:nvSpPr>
        <p:spPr>
          <a:xfrm>
            <a:off x="3200400" y="2596896"/>
            <a:ext cx="2523744" cy="1417320"/>
          </a:xfrm>
          <a:prstGeom prst="rect">
            <a:avLst/>
          </a:prstGeom>
          <a:solidFill>
            <a:srgbClr val="DCEEF9"/>
          </a:solidFill>
          <a:ln w="10160">
            <a:solidFill>
              <a:srgbClr val="B8DDF3"/>
            </a:solidFill>
            <a:prstDash val="solid"/>
          </a:ln>
        </p:spPr>
      </p:sp>
      <p:sp>
        <p:nvSpPr>
          <p:cNvPr id="13" name="Shape 11"/>
          <p:cNvSpPr/>
          <p:nvPr/>
        </p:nvSpPr>
        <p:spPr>
          <a:xfrm>
            <a:off x="6236208" y="2596896"/>
            <a:ext cx="2505456" cy="1417320"/>
          </a:xfrm>
          <a:prstGeom prst="rect">
            <a:avLst/>
          </a:prstGeom>
          <a:solidFill>
            <a:srgbClr val="F3F5F7"/>
          </a:solidFill>
          <a:ln w="10160">
            <a:solidFill>
              <a:srgbClr val="E8EDF1"/>
            </a:solidFill>
            <a:prstDash val="solid"/>
          </a:ln>
        </p:spPr>
      </p:sp>
      <p:sp>
        <p:nvSpPr>
          <p:cNvPr id="14" name="Shape 12"/>
          <p:cNvSpPr/>
          <p:nvPr/>
        </p:nvSpPr>
        <p:spPr>
          <a:xfrm>
            <a:off x="9244584" y="2596896"/>
            <a:ext cx="2395728" cy="1417320"/>
          </a:xfrm>
          <a:prstGeom prst="rect">
            <a:avLst/>
          </a:prstGeom>
          <a:solidFill>
            <a:srgbClr val="EAF7F0"/>
          </a:solidFill>
          <a:ln w="10160">
            <a:solidFill>
              <a:srgbClr val="B8E4CC"/>
            </a:solidFill>
            <a:prstDash val="solid"/>
          </a:ln>
        </p:spPr>
      </p:sp>
      <p:sp>
        <p:nvSpPr>
          <p:cNvPr id="15" name="Text 13"/>
          <p:cNvSpPr txBox="1"/>
          <p:nvPr/>
        </p:nvSpPr>
        <p:spPr>
          <a:xfrm>
            <a:off x="822960" y="2944368"/>
            <a:ext cx="1600200" cy="548640"/>
          </a:xfrm>
          <a:prstGeom prst="rect">
            <a:avLst/>
          </a:prstGeom>
          <a:noFill/>
          <a:ln/>
        </p:spPr>
        <p:txBody>
          <a:bodyPr wrap="square" lIns="0" tIns="0" rIns="0" bIns="0" rtlCol="0" anchor="t">
            <a:normAutofit/>
          </a:bodyPr>
          <a:lstStyle/>
          <a:p>
            <a:pPr algn="ctr" indent="0" marL="0">
              <a:buNone/>
            </a:pPr>
            <a:r>
              <a:rPr lang="en-US" sz="2300" b="1" dirty="0">
                <a:solidFill>
                  <a:srgbClr val="111827"/>
                </a:solidFill>
                <a:latin typeface="Arial" pitchFamily="34" charset="0"/>
                <a:ea typeface="Arial" pitchFamily="34" charset="-122"/>
                <a:cs typeface="Arial" pitchFamily="34" charset="-120"/>
              </a:rPr>
              <a:t>Measured output</a:t>
            </a:r>
            <a:endParaRPr lang="en-US" sz="2300" dirty="0"/>
          </a:p>
          <a:p>
            <a:pPr algn="ctr" indent="0" marL="0">
              <a:buNone/>
            </a:pPr>
            <a:r>
              <a:rPr lang="en-US" sz="2300" b="1" dirty="0">
                <a:solidFill>
                  <a:srgbClr val="111827"/>
                </a:solidFill>
                <a:latin typeface="Arial" pitchFamily="34" charset="0"/>
                <a:ea typeface="Arial" pitchFamily="34" charset="-122"/>
                <a:cs typeface="Arial" pitchFamily="34" charset="-120"/>
              </a:rPr>
              <a:t>y = Cx</a:t>
            </a:r>
            <a:endParaRPr lang="en-US" sz="2300" dirty="0"/>
          </a:p>
        </p:txBody>
      </p:sp>
      <p:sp>
        <p:nvSpPr>
          <p:cNvPr id="16" name="Text 14"/>
          <p:cNvSpPr txBox="1"/>
          <p:nvPr/>
        </p:nvSpPr>
        <p:spPr>
          <a:xfrm>
            <a:off x="3474720" y="2898648"/>
            <a:ext cx="1965960" cy="594360"/>
          </a:xfrm>
          <a:prstGeom prst="rect">
            <a:avLst/>
          </a:prstGeom>
          <a:noFill/>
          <a:ln/>
        </p:spPr>
        <p:txBody>
          <a:bodyPr wrap="square" lIns="0" tIns="0" rIns="0" bIns="0" rtlCol="0" anchor="t">
            <a:normAutofit/>
          </a:bodyPr>
          <a:lstStyle/>
          <a:p>
            <a:pPr algn="ctr" indent="0" marL="0">
              <a:buNone/>
            </a:pPr>
            <a:r>
              <a:rPr lang="en-US" sz="2200" b="1" dirty="0">
                <a:solidFill>
                  <a:srgbClr val="105B94"/>
                </a:solidFill>
                <a:latin typeface="Arial" pitchFamily="34" charset="0"/>
                <a:ea typeface="Arial" pitchFamily="34" charset="-122"/>
                <a:cs typeface="Arial" pitchFamily="34" charset="-120"/>
              </a:rPr>
              <a:t>Augmented states</a:t>
            </a:r>
            <a:endParaRPr lang="en-US" sz="2200" dirty="0"/>
          </a:p>
          <a:p>
            <a:pPr algn="ctr" indent="0" marL="0">
              <a:buNone/>
            </a:pPr>
            <a:r>
              <a:rPr lang="en-US" sz="2200" b="1" dirty="0">
                <a:solidFill>
                  <a:srgbClr val="105B94"/>
                </a:solidFill>
                <a:latin typeface="Arial" pitchFamily="34" charset="0"/>
                <a:ea typeface="Arial" pitchFamily="34" charset="-122"/>
                <a:cs typeface="Arial" pitchFamily="34" charset="-120"/>
              </a:rPr>
              <a:t>χ₁ = y,  χ₂ = ẏ</a:t>
            </a:r>
            <a:endParaRPr lang="en-US" sz="2200" dirty="0"/>
          </a:p>
        </p:txBody>
      </p:sp>
      <p:sp>
        <p:nvSpPr>
          <p:cNvPr id="17" name="Text 15"/>
          <p:cNvSpPr txBox="1"/>
          <p:nvPr/>
        </p:nvSpPr>
        <p:spPr>
          <a:xfrm>
            <a:off x="6473952" y="2944368"/>
            <a:ext cx="2029968" cy="548640"/>
          </a:xfrm>
          <a:prstGeom prst="rect">
            <a:avLst/>
          </a:prstGeom>
          <a:noFill/>
          <a:ln/>
        </p:spPr>
        <p:txBody>
          <a:bodyPr wrap="square" lIns="0" tIns="0" rIns="0" bIns="0" rtlCol="0" anchor="t">
            <a:normAutofit/>
          </a:bodyPr>
          <a:lstStyle/>
          <a:p>
            <a:pPr algn="ctr" indent="0" marL="0">
              <a:buNone/>
            </a:pPr>
            <a:r>
              <a:rPr lang="en-US" sz="2200" b="1" dirty="0">
                <a:solidFill>
                  <a:srgbClr val="111827"/>
                </a:solidFill>
                <a:latin typeface="Arial" pitchFamily="34" charset="0"/>
                <a:ea typeface="Arial" pitchFamily="34" charset="-122"/>
                <a:cs typeface="Arial" pitchFamily="34" charset="-120"/>
              </a:rPr>
              <a:t>Generalized</a:t>
            </a:r>
            <a:endParaRPr lang="en-US" sz="2200" dirty="0"/>
          </a:p>
          <a:p>
            <a:pPr algn="ctr" indent="0" marL="0">
              <a:buNone/>
            </a:pPr>
            <a:r>
              <a:rPr lang="en-US" sz="2200" b="1" dirty="0">
                <a:solidFill>
                  <a:srgbClr val="111827"/>
                </a:solidFill>
                <a:latin typeface="Arial" pitchFamily="34" charset="0"/>
                <a:ea typeface="Arial" pitchFamily="34" charset="-122"/>
                <a:cs typeface="Arial" pitchFamily="34" charset="-120"/>
              </a:rPr>
              <a:t>regularized model</a:t>
            </a:r>
            <a:endParaRPr lang="en-US" sz="2200" dirty="0"/>
          </a:p>
        </p:txBody>
      </p:sp>
      <p:sp>
        <p:nvSpPr>
          <p:cNvPr id="18" name="Text 16"/>
          <p:cNvSpPr txBox="1"/>
          <p:nvPr/>
        </p:nvSpPr>
        <p:spPr>
          <a:xfrm>
            <a:off x="9491472" y="2898648"/>
            <a:ext cx="1901952" cy="594360"/>
          </a:xfrm>
          <a:prstGeom prst="rect">
            <a:avLst/>
          </a:prstGeom>
          <a:noFill/>
          <a:ln/>
        </p:spPr>
        <p:txBody>
          <a:bodyPr wrap="square" lIns="0" tIns="0" rIns="0" bIns="0" rtlCol="0" anchor="t">
            <a:normAutofit/>
          </a:bodyPr>
          <a:lstStyle/>
          <a:p>
            <a:pPr algn="ctr" indent="0" marL="0">
              <a:buNone/>
            </a:pPr>
            <a:r>
              <a:rPr lang="en-US" sz="1900" b="1" dirty="0">
                <a:solidFill>
                  <a:srgbClr val="1A7750"/>
                </a:solidFill>
                <a:latin typeface="Arial" pitchFamily="34" charset="0"/>
                <a:ea typeface="Arial" pitchFamily="34" charset="-122"/>
                <a:cs typeface="Arial" pitchFamily="34" charset="-120"/>
              </a:rPr>
              <a:t>Generalized UIO</a:t>
            </a:r>
            <a:endParaRPr lang="en-US" sz="1900" dirty="0"/>
          </a:p>
          <a:p>
            <a:pPr algn="ctr" indent="0" marL="0">
              <a:buNone/>
            </a:pPr>
            <a:r>
              <a:rPr lang="en-US" sz="1900" b="1" dirty="0">
                <a:solidFill>
                  <a:srgbClr val="1A7750"/>
                </a:solidFill>
                <a:latin typeface="Arial" pitchFamily="34" charset="0"/>
                <a:ea typeface="Arial" pitchFamily="34" charset="-122"/>
                <a:cs typeface="Arial" pitchFamily="34" charset="-120"/>
              </a:rPr>
              <a:t>ẑ = [χ̂₁, χ̂₂, x̂, μ̂ₓ]ᵀ</a:t>
            </a:r>
            <a:endParaRPr lang="en-US" sz="1900" dirty="0"/>
          </a:p>
        </p:txBody>
      </p:sp>
      <p:sp>
        <p:nvSpPr>
          <p:cNvPr id="19" name="Shape 17"/>
          <p:cNvSpPr/>
          <p:nvPr/>
        </p:nvSpPr>
        <p:spPr>
          <a:xfrm>
            <a:off x="566928" y="4681728"/>
            <a:ext cx="11073384" cy="749808"/>
          </a:xfrm>
          <a:prstGeom prst="rect">
            <a:avLst/>
          </a:prstGeom>
          <a:solidFill>
            <a:srgbClr val="DCEEF9"/>
          </a:solidFill>
          <a:ln w="12700">
            <a:solidFill>
              <a:srgbClr val="DCEEF9">
                <a:alpha val="0"/>
              </a:srgbClr>
            </a:solidFill>
            <a:prstDash val="solid"/>
          </a:ln>
        </p:spPr>
      </p:sp>
      <p:sp>
        <p:nvSpPr>
          <p:cNvPr id="20" name="Text 18"/>
          <p:cNvSpPr txBox="1"/>
          <p:nvPr/>
        </p:nvSpPr>
        <p:spPr>
          <a:xfrm>
            <a:off x="850392" y="4901184"/>
            <a:ext cx="10515600" cy="256032"/>
          </a:xfrm>
          <a:prstGeom prst="rect">
            <a:avLst/>
          </a:prstGeom>
          <a:noFill/>
          <a:ln/>
        </p:spPr>
        <p:txBody>
          <a:bodyPr wrap="square" lIns="0" tIns="0" rIns="0" bIns="0" rtlCol="0" anchor="t">
            <a:normAutofit/>
          </a:bodyPr>
          <a:lstStyle/>
          <a:p>
            <a:pPr algn="ctr" indent="0" marL="0">
              <a:buNone/>
            </a:pPr>
            <a:r>
              <a:rPr lang="en-US" sz="1850" b="1" dirty="0">
                <a:solidFill>
                  <a:srgbClr val="105B94"/>
                </a:solidFill>
                <a:latin typeface="Arial" pitchFamily="34" charset="0"/>
                <a:ea typeface="Arial" pitchFamily="34" charset="-122"/>
                <a:cs typeface="Arial" pitchFamily="34" charset="-120"/>
              </a:rPr>
              <a:t>When rank(CB) = rank(B), choose δ₁ = δ₂ = 0: the generalized UIO recovers exponential convergence. Otherwise, it retains the adjustable H¹ bound.</a:t>
            </a:r>
            <a:endParaRPr lang="en-US" sz="1850" dirty="0"/>
          </a:p>
        </p:txBody>
      </p:sp>
      <p:sp>
        <p:nvSpPr>
          <p:cNvPr id="21" name="Text 19"/>
          <p:cNvSpPr txBox="1"/>
          <p:nvPr/>
        </p:nvSpPr>
        <p:spPr>
          <a:xfrm>
            <a:off x="566928" y="5559552"/>
            <a:ext cx="10789920" cy="292608"/>
          </a:xfrm>
          <a:prstGeom prst="rect">
            <a:avLst/>
          </a:prstGeom>
          <a:noFill/>
          <a:ln/>
        </p:spPr>
        <p:txBody>
          <a:bodyPr wrap="square" lIns="0" tIns="0" rIns="0" bIns="0" rtlCol="0" anchor="t">
            <a:normAutofit/>
          </a:bodyPr>
          <a:lstStyle/>
          <a:p>
            <a:pPr algn="ctr" indent="0" marL="0">
              <a:buNone/>
            </a:pPr>
            <a:r>
              <a:rPr lang="en-US" sz="1550" dirty="0">
                <a:solidFill>
                  <a:srgbClr val="52606D"/>
                </a:solidFill>
                <a:latin typeface="Arial" pitchFamily="34" charset="0"/>
                <a:ea typeface="Arial" pitchFamily="34" charset="-122"/>
                <a:cs typeface="Arial" pitchFamily="34" charset="-120"/>
              </a:rPr>
              <a:t>χ̂₂ acts as a filtered estimate of ẏ, avoiding a posteriori numerical differentiation of noisy measurements.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LAYER 1 · GUARANTEE</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06</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LMIs certify a bounded physics-based teacher signal</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The Layer 1 observer is designed over a polytopic representation of the nonlinear Jacobian.</a:t>
            </a:r>
            <a:endParaRPr lang="en-US" sz="1550" dirty="0"/>
          </a:p>
        </p:txBody>
      </p:sp>
      <p:sp>
        <p:nvSpPr>
          <p:cNvPr id="8" name="Shape 6"/>
          <p:cNvSpPr/>
          <p:nvPr/>
        </p:nvSpPr>
        <p:spPr>
          <a:xfrm>
            <a:off x="502920" y="1737360"/>
            <a:ext cx="3749040" cy="3611880"/>
          </a:xfrm>
          <a:prstGeom prst="rect">
            <a:avLst/>
          </a:prstGeom>
          <a:solidFill>
            <a:srgbClr val="F3F5F7"/>
          </a:solidFill>
          <a:ln w="12700">
            <a:solidFill>
              <a:srgbClr val="F3F5F7">
                <a:alpha val="0"/>
              </a:srgbClr>
            </a:solidFill>
            <a:prstDash val="solid"/>
          </a:ln>
        </p:spPr>
      </p:sp>
      <p:sp>
        <p:nvSpPr>
          <p:cNvPr id="9" name="Shape 7"/>
          <p:cNvSpPr/>
          <p:nvPr/>
        </p:nvSpPr>
        <p:spPr>
          <a:xfrm>
            <a:off x="777240" y="2029968"/>
            <a:ext cx="1645920" cy="256032"/>
          </a:xfrm>
          <a:prstGeom prst="rect">
            <a:avLst/>
          </a:prstGeom>
          <a:solidFill>
            <a:srgbClr val="111827"/>
          </a:solidFill>
          <a:ln w="12700">
            <a:solidFill>
              <a:srgbClr val="111827">
                <a:alpha val="0"/>
              </a:srgbClr>
            </a:solidFill>
            <a:prstDash val="solid"/>
          </a:ln>
        </p:spPr>
      </p:sp>
      <p:sp>
        <p:nvSpPr>
          <p:cNvPr id="10" name="Text 8"/>
          <p:cNvSpPr txBox="1"/>
          <p:nvPr/>
        </p:nvSpPr>
        <p:spPr>
          <a:xfrm>
            <a:off x="868680" y="2084832"/>
            <a:ext cx="1463040" cy="128016"/>
          </a:xfrm>
          <a:prstGeom prst="rect">
            <a:avLst/>
          </a:prstGeom>
          <a:noFill/>
          <a:ln/>
        </p:spPr>
        <p:txBody>
          <a:bodyPr wrap="square" lIns="0" tIns="0" rIns="0" bIns="0" rtlCol="0" anchor="t">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DESIGN INGREDIENTS</a:t>
            </a:r>
            <a:endParaRPr lang="en-US" sz="950" dirty="0"/>
          </a:p>
        </p:txBody>
      </p:sp>
      <p:sp>
        <p:nvSpPr>
          <p:cNvPr id="11" name="Shape 9"/>
          <p:cNvSpPr/>
          <p:nvPr/>
        </p:nvSpPr>
        <p:spPr>
          <a:xfrm>
            <a:off x="841248" y="2724912"/>
            <a:ext cx="73152" cy="73152"/>
          </a:xfrm>
          <a:prstGeom prst="rect">
            <a:avLst/>
          </a:prstGeom>
          <a:solidFill>
            <a:srgbClr val="1677C8"/>
          </a:solidFill>
          <a:ln w="12700">
            <a:solidFill>
              <a:srgbClr val="1677C8">
                <a:alpha val="0"/>
              </a:srgbClr>
            </a:solidFill>
            <a:prstDash val="solid"/>
          </a:ln>
        </p:spPr>
      </p:sp>
      <p:sp>
        <p:nvSpPr>
          <p:cNvPr id="12" name="Text 10"/>
          <p:cNvSpPr txBox="1"/>
          <p:nvPr/>
        </p:nvSpPr>
        <p:spPr>
          <a:xfrm>
            <a:off x="1024128" y="2624328"/>
            <a:ext cx="2834640" cy="640080"/>
          </a:xfrm>
          <a:prstGeom prst="rect">
            <a:avLst/>
          </a:prstGeom>
          <a:noFill/>
          <a:ln/>
        </p:spPr>
        <p:txBody>
          <a:bodyPr wrap="square" lIns="0" tIns="0" rIns="0" bIns="0" rtlCol="0" anchor="t">
            <a:normAutofit/>
          </a:bodyPr>
          <a:lstStyle/>
          <a:p>
            <a:pPr algn="l" indent="0" marL="0">
              <a:buNone/>
            </a:pPr>
            <a:r>
              <a:rPr lang="en-US" sz="1620" dirty="0">
                <a:solidFill>
                  <a:srgbClr val="111827"/>
                </a:solidFill>
                <a:latin typeface="Arial" pitchFamily="34" charset="0"/>
                <a:ea typeface="Arial" pitchFamily="34" charset="-122"/>
                <a:cs typeface="Arial" pitchFamily="34" charset="-120"/>
              </a:rPr>
              <a:t>Lipschitz nonlinearity → polytope vertices Aⱼ.</a:t>
            </a:r>
            <a:endParaRPr lang="en-US" sz="1620" dirty="0"/>
          </a:p>
        </p:txBody>
      </p:sp>
      <p:sp>
        <p:nvSpPr>
          <p:cNvPr id="13" name="Shape 11"/>
          <p:cNvSpPr/>
          <p:nvPr/>
        </p:nvSpPr>
        <p:spPr>
          <a:xfrm>
            <a:off x="841248" y="3493008"/>
            <a:ext cx="73152" cy="73152"/>
          </a:xfrm>
          <a:prstGeom prst="rect">
            <a:avLst/>
          </a:prstGeom>
          <a:solidFill>
            <a:srgbClr val="1677C8"/>
          </a:solidFill>
          <a:ln w="12700">
            <a:solidFill>
              <a:srgbClr val="1677C8">
                <a:alpha val="0"/>
              </a:srgbClr>
            </a:solidFill>
            <a:prstDash val="solid"/>
          </a:ln>
        </p:spPr>
      </p:sp>
      <p:sp>
        <p:nvSpPr>
          <p:cNvPr id="14" name="Text 12"/>
          <p:cNvSpPr txBox="1"/>
          <p:nvPr/>
        </p:nvSpPr>
        <p:spPr>
          <a:xfrm>
            <a:off x="1024128" y="3392424"/>
            <a:ext cx="2834640" cy="640080"/>
          </a:xfrm>
          <a:prstGeom prst="rect">
            <a:avLst/>
          </a:prstGeom>
          <a:noFill/>
          <a:ln/>
        </p:spPr>
        <p:txBody>
          <a:bodyPr wrap="square" lIns="0" tIns="0" rIns="0" bIns="0" rtlCol="0" anchor="t">
            <a:normAutofit/>
          </a:bodyPr>
          <a:lstStyle/>
          <a:p>
            <a:pPr algn="l" indent="0" marL="0">
              <a:buNone/>
            </a:pPr>
            <a:r>
              <a:rPr lang="en-US" sz="1620" dirty="0">
                <a:solidFill>
                  <a:srgbClr val="111827"/>
                </a:solidFill>
                <a:latin typeface="Arial" pitchFamily="34" charset="0"/>
                <a:ea typeface="Arial" pitchFamily="34" charset="-122"/>
                <a:cs typeface="Arial" pitchFamily="34" charset="-120"/>
              </a:rPr>
              <a:t>Decision variables: P ≻ 0 and Q.</a:t>
            </a:r>
            <a:endParaRPr lang="en-US" sz="1620" dirty="0"/>
          </a:p>
        </p:txBody>
      </p:sp>
      <p:sp>
        <p:nvSpPr>
          <p:cNvPr id="15" name="Shape 13"/>
          <p:cNvSpPr/>
          <p:nvPr/>
        </p:nvSpPr>
        <p:spPr>
          <a:xfrm>
            <a:off x="841248" y="4261104"/>
            <a:ext cx="73152" cy="73152"/>
          </a:xfrm>
          <a:prstGeom prst="rect">
            <a:avLst/>
          </a:prstGeom>
          <a:solidFill>
            <a:srgbClr val="1677C8"/>
          </a:solidFill>
          <a:ln w="12700">
            <a:solidFill>
              <a:srgbClr val="1677C8">
                <a:alpha val="0"/>
              </a:srgbClr>
            </a:solidFill>
            <a:prstDash val="solid"/>
          </a:ln>
        </p:spPr>
      </p:sp>
      <p:sp>
        <p:nvSpPr>
          <p:cNvPr id="16" name="Text 14"/>
          <p:cNvSpPr txBox="1"/>
          <p:nvPr/>
        </p:nvSpPr>
        <p:spPr>
          <a:xfrm>
            <a:off x="1024128" y="4160520"/>
            <a:ext cx="2834640" cy="640080"/>
          </a:xfrm>
          <a:prstGeom prst="rect">
            <a:avLst/>
          </a:prstGeom>
          <a:noFill/>
          <a:ln/>
        </p:spPr>
        <p:txBody>
          <a:bodyPr wrap="square" lIns="0" tIns="0" rIns="0" bIns="0" rtlCol="0" anchor="t">
            <a:normAutofit/>
          </a:bodyPr>
          <a:lstStyle/>
          <a:p>
            <a:pPr algn="l" indent="0" marL="0">
              <a:buNone/>
            </a:pPr>
            <a:r>
              <a:rPr lang="en-US" sz="1620" dirty="0">
                <a:solidFill>
                  <a:srgbClr val="111827"/>
                </a:solidFill>
                <a:latin typeface="Arial" pitchFamily="34" charset="0"/>
                <a:ea typeface="Arial" pitchFamily="34" charset="-122"/>
                <a:cs typeface="Arial" pitchFamily="34" charset="-120"/>
              </a:rPr>
              <a:t>Gain: K = P⁻¹Qᵀ.</a:t>
            </a:r>
            <a:endParaRPr lang="en-US" sz="1620" dirty="0"/>
          </a:p>
        </p:txBody>
      </p:sp>
      <p:sp>
        <p:nvSpPr>
          <p:cNvPr id="17" name="Shape 15"/>
          <p:cNvSpPr/>
          <p:nvPr/>
        </p:nvSpPr>
        <p:spPr>
          <a:xfrm>
            <a:off x="4507992" y="1737360"/>
            <a:ext cx="7150608" cy="3611880"/>
          </a:xfrm>
          <a:prstGeom prst="rect">
            <a:avLst/>
          </a:prstGeom>
          <a:solidFill>
            <a:srgbClr val="111827"/>
          </a:solidFill>
          <a:ln w="12700">
            <a:solidFill>
              <a:srgbClr val="111827">
                <a:alpha val="0"/>
              </a:srgbClr>
            </a:solidFill>
            <a:prstDash val="solid"/>
          </a:ln>
        </p:spPr>
      </p:sp>
      <p:sp>
        <p:nvSpPr>
          <p:cNvPr id="18" name="Text 16"/>
          <p:cNvSpPr txBox="1"/>
          <p:nvPr/>
        </p:nvSpPr>
        <p:spPr>
          <a:xfrm>
            <a:off x="4901184" y="2093976"/>
            <a:ext cx="3566160" cy="310896"/>
          </a:xfrm>
          <a:prstGeom prst="rect">
            <a:avLst/>
          </a:prstGeom>
          <a:noFill/>
          <a:ln/>
        </p:spPr>
        <p:txBody>
          <a:bodyPr wrap="square" lIns="0" tIns="0" rIns="0" bIns="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Certified conclusion</a:t>
            </a:r>
            <a:endParaRPr lang="en-US" sz="2400" dirty="0"/>
          </a:p>
        </p:txBody>
      </p:sp>
      <p:sp>
        <p:nvSpPr>
          <p:cNvPr id="19" name="Shape 17"/>
          <p:cNvSpPr/>
          <p:nvPr/>
        </p:nvSpPr>
        <p:spPr>
          <a:xfrm>
            <a:off x="4901184" y="2615184"/>
            <a:ext cx="6181344" cy="0"/>
          </a:xfrm>
          <a:prstGeom prst="line">
            <a:avLst/>
          </a:prstGeom>
          <a:noFill/>
          <a:ln w="10160">
            <a:solidFill>
              <a:srgbClr val="52606D"/>
            </a:solidFill>
            <a:prstDash val="solid"/>
            <a:headEnd type="none"/>
            <a:tailEnd type="none"/>
          </a:ln>
        </p:spPr>
      </p:sp>
      <p:sp>
        <p:nvSpPr>
          <p:cNvPr id="20" name="Text 18"/>
          <p:cNvSpPr txBox="1"/>
          <p:nvPr/>
        </p:nvSpPr>
        <p:spPr>
          <a:xfrm>
            <a:off x="4901184" y="2980944"/>
            <a:ext cx="6181344" cy="502920"/>
          </a:xfrm>
          <a:prstGeom prst="rect">
            <a:avLst/>
          </a:prstGeom>
          <a:noFill/>
          <a:ln/>
        </p:spPr>
        <p:txBody>
          <a:bodyPr wrap="square" lIns="0" tIns="0" rIns="0" bIns="0" rtlCol="0" anchor="t">
            <a:normAutofit/>
          </a:bodyPr>
          <a:lstStyle/>
          <a:p>
            <a:pPr algn="ctr" indent="0" marL="0">
              <a:buNone/>
            </a:pPr>
            <a:r>
              <a:rPr lang="en-US" sz="2800" b="1" dirty="0">
                <a:solidFill>
                  <a:srgbClr val="FFFFFF"/>
                </a:solidFill>
                <a:latin typeface="Arial" pitchFamily="34" charset="0"/>
                <a:ea typeface="Arial" pitchFamily="34" charset="-122"/>
                <a:cs typeface="Arial" pitchFamily="34" charset="-120"/>
              </a:rPr>
              <a:t>‖ζ − ζ̂‖H¹ ≤ λδ ‖μₓ‖H¹ + β‖ξ₀‖</a:t>
            </a:r>
            <a:endParaRPr lang="en-US" sz="2800" dirty="0"/>
          </a:p>
        </p:txBody>
      </p:sp>
      <p:sp>
        <p:nvSpPr>
          <p:cNvPr id="21" name="Text 19"/>
          <p:cNvSpPr txBox="1"/>
          <p:nvPr/>
        </p:nvSpPr>
        <p:spPr>
          <a:xfrm>
            <a:off x="5102352" y="3794760"/>
            <a:ext cx="5760720" cy="329184"/>
          </a:xfrm>
          <a:prstGeom prst="rect">
            <a:avLst/>
          </a:prstGeom>
          <a:noFill/>
          <a:ln/>
        </p:spPr>
        <p:txBody>
          <a:bodyPr wrap="square" lIns="0" tIns="0" rIns="0" bIns="0" rtlCol="0" anchor="t">
            <a:normAutofit/>
          </a:bodyPr>
          <a:lstStyle/>
          <a:p>
            <a:pPr algn="ctr" indent="0" marL="0">
              <a:buNone/>
            </a:pPr>
            <a:r>
              <a:rPr lang="en-US" sz="1900" dirty="0">
                <a:solidFill>
                  <a:srgbClr val="DCEEF9"/>
                </a:solidFill>
                <a:latin typeface="Arial" pitchFamily="34" charset="0"/>
                <a:ea typeface="Arial" pitchFamily="34" charset="-122"/>
                <a:cs typeface="Arial" pitchFamily="34" charset="-120"/>
              </a:rPr>
              <a:t>The bound is robust to the regularization disturbance and initial error.</a:t>
            </a:r>
            <a:endParaRPr lang="en-US" sz="1900" dirty="0"/>
          </a:p>
        </p:txBody>
      </p:sp>
      <p:sp>
        <p:nvSpPr>
          <p:cNvPr id="22" name="Text 20"/>
          <p:cNvSpPr txBox="1"/>
          <p:nvPr/>
        </p:nvSpPr>
        <p:spPr>
          <a:xfrm>
            <a:off x="502920" y="5614416"/>
            <a:ext cx="11064240" cy="475488"/>
          </a:xfrm>
          <a:prstGeom prst="rect">
            <a:avLst/>
          </a:prstGeom>
          <a:noFill/>
          <a:ln/>
        </p:spPr>
        <p:txBody>
          <a:bodyPr wrap="square" lIns="0" tIns="0" rIns="0" bIns="0" rtlCol="0" anchor="ctr">
            <a:normAutofit/>
          </a:bodyPr>
          <a:lstStyle/>
          <a:p>
            <a:pPr algn="ctr" indent="0" marL="0">
              <a:buNone/>
            </a:pPr>
            <a:r>
              <a:rPr lang="en-US" sz="1850" b="1" dirty="0">
                <a:solidFill>
                  <a:srgbClr val="1677C8"/>
                </a:solidFill>
                <a:latin typeface="Arial" pitchFamily="34" charset="0"/>
                <a:ea typeface="Arial" pitchFamily="34" charset="-122"/>
                <a:cs typeface="Arial" pitchFamily="34" charset="-120"/>
              </a:rPr>
              <a:t>Layer 1 is not the final learned model—it is the safe supervisory reference for Layer 2.</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LAYER 2 · LEARNING ARCHITECTURE</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07</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Layer 2 learns a predictive residual model</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The neural adaptive observer uses the UIO output as a physics-consistent proxy target during online adaptation.</a:t>
            </a:r>
            <a:endParaRPr lang="en-US" sz="1550" dirty="0"/>
          </a:p>
        </p:txBody>
      </p:sp>
      <p:sp>
        <p:nvSpPr>
          <p:cNvPr id="8" name="Shape 6"/>
          <p:cNvSpPr/>
          <p:nvPr/>
        </p:nvSpPr>
        <p:spPr>
          <a:xfrm>
            <a:off x="2194560" y="3474720"/>
            <a:ext cx="457200" cy="0"/>
          </a:xfrm>
          <a:prstGeom prst="line">
            <a:avLst/>
          </a:prstGeom>
          <a:noFill/>
          <a:ln w="21590">
            <a:solidFill>
              <a:srgbClr val="52606D"/>
            </a:solidFill>
            <a:prstDash val="solid"/>
            <a:headEnd type="none"/>
            <a:tailEnd type="triangle"/>
          </a:ln>
        </p:spPr>
      </p:sp>
      <p:sp>
        <p:nvSpPr>
          <p:cNvPr id="9" name="Shape 7"/>
          <p:cNvSpPr/>
          <p:nvPr/>
        </p:nvSpPr>
        <p:spPr>
          <a:xfrm>
            <a:off x="5001768" y="3474720"/>
            <a:ext cx="438912" cy="0"/>
          </a:xfrm>
          <a:prstGeom prst="line">
            <a:avLst/>
          </a:prstGeom>
          <a:noFill/>
          <a:ln w="21590">
            <a:solidFill>
              <a:srgbClr val="52606D"/>
            </a:solidFill>
            <a:prstDash val="solid"/>
            <a:headEnd type="none"/>
            <a:tailEnd type="triangle"/>
          </a:ln>
        </p:spPr>
      </p:sp>
      <p:sp>
        <p:nvSpPr>
          <p:cNvPr id="10" name="Shape 8"/>
          <p:cNvSpPr/>
          <p:nvPr/>
        </p:nvSpPr>
        <p:spPr>
          <a:xfrm>
            <a:off x="7891272" y="3474720"/>
            <a:ext cx="438912" cy="0"/>
          </a:xfrm>
          <a:prstGeom prst="line">
            <a:avLst/>
          </a:prstGeom>
          <a:noFill/>
          <a:ln w="21590">
            <a:solidFill>
              <a:srgbClr val="52606D"/>
            </a:solidFill>
            <a:prstDash val="solid"/>
            <a:headEnd type="none"/>
            <a:tailEnd type="triangle"/>
          </a:ln>
        </p:spPr>
      </p:sp>
      <p:sp>
        <p:nvSpPr>
          <p:cNvPr id="11" name="Shape 9"/>
          <p:cNvSpPr/>
          <p:nvPr/>
        </p:nvSpPr>
        <p:spPr>
          <a:xfrm>
            <a:off x="4572000" y="4480560"/>
            <a:ext cx="0" cy="603504"/>
          </a:xfrm>
          <a:prstGeom prst="line">
            <a:avLst/>
          </a:prstGeom>
          <a:noFill/>
          <a:ln w="17780">
            <a:solidFill>
              <a:srgbClr val="1677C8"/>
            </a:solidFill>
            <a:prstDash val="solid"/>
            <a:headEnd type="none"/>
            <a:tailEnd type="triangle"/>
          </a:ln>
        </p:spPr>
      </p:sp>
      <p:sp>
        <p:nvSpPr>
          <p:cNvPr id="12" name="Shape 10"/>
          <p:cNvSpPr/>
          <p:nvPr/>
        </p:nvSpPr>
        <p:spPr>
          <a:xfrm>
            <a:off x="512064" y="2697480"/>
            <a:ext cx="1682496" cy="1572768"/>
          </a:xfrm>
          <a:prstGeom prst="rect">
            <a:avLst/>
          </a:prstGeom>
          <a:solidFill>
            <a:srgbClr val="F3F5F7"/>
          </a:solidFill>
          <a:ln w="10160">
            <a:solidFill>
              <a:srgbClr val="E8EDF1"/>
            </a:solidFill>
            <a:prstDash val="solid"/>
          </a:ln>
        </p:spPr>
      </p:sp>
      <p:sp>
        <p:nvSpPr>
          <p:cNvPr id="13" name="Shape 11"/>
          <p:cNvSpPr/>
          <p:nvPr/>
        </p:nvSpPr>
        <p:spPr>
          <a:xfrm>
            <a:off x="2651760" y="2697480"/>
            <a:ext cx="2350008" cy="1572768"/>
          </a:xfrm>
          <a:prstGeom prst="rect">
            <a:avLst/>
          </a:prstGeom>
          <a:solidFill>
            <a:srgbClr val="DCEEF9"/>
          </a:solidFill>
          <a:ln w="10160">
            <a:solidFill>
              <a:srgbClr val="B8DDF3"/>
            </a:solidFill>
            <a:prstDash val="solid"/>
          </a:ln>
        </p:spPr>
      </p:sp>
      <p:sp>
        <p:nvSpPr>
          <p:cNvPr id="14" name="Shape 12"/>
          <p:cNvSpPr/>
          <p:nvPr/>
        </p:nvSpPr>
        <p:spPr>
          <a:xfrm>
            <a:off x="5440680" y="2697480"/>
            <a:ext cx="2450592" cy="1572768"/>
          </a:xfrm>
          <a:prstGeom prst="rect">
            <a:avLst/>
          </a:prstGeom>
          <a:solidFill>
            <a:srgbClr val="EAF7F0"/>
          </a:solidFill>
          <a:ln w="10160">
            <a:solidFill>
              <a:srgbClr val="B8E4CC"/>
            </a:solidFill>
            <a:prstDash val="solid"/>
          </a:ln>
        </p:spPr>
      </p:sp>
      <p:sp>
        <p:nvSpPr>
          <p:cNvPr id="15" name="Shape 13"/>
          <p:cNvSpPr/>
          <p:nvPr/>
        </p:nvSpPr>
        <p:spPr>
          <a:xfrm>
            <a:off x="8330184" y="2697480"/>
            <a:ext cx="3310128" cy="1572768"/>
          </a:xfrm>
          <a:prstGeom prst="rect">
            <a:avLst/>
          </a:prstGeom>
          <a:solidFill>
            <a:srgbClr val="F3F5F7"/>
          </a:solidFill>
          <a:ln w="10160">
            <a:solidFill>
              <a:srgbClr val="E8EDF1"/>
            </a:solidFill>
            <a:prstDash val="solid"/>
          </a:ln>
        </p:spPr>
      </p:sp>
      <p:sp>
        <p:nvSpPr>
          <p:cNvPr id="16" name="Text 14"/>
          <p:cNvSpPr txBox="1"/>
          <p:nvPr/>
        </p:nvSpPr>
        <p:spPr>
          <a:xfrm>
            <a:off x="795528" y="3172968"/>
            <a:ext cx="1115568" cy="548640"/>
          </a:xfrm>
          <a:prstGeom prst="rect">
            <a:avLst/>
          </a:prstGeom>
          <a:noFill/>
          <a:ln/>
        </p:spPr>
        <p:txBody>
          <a:bodyPr wrap="square" lIns="0" tIns="0" rIns="0" bIns="0" rtlCol="0" anchor="t">
            <a:normAutofit/>
          </a:bodyPr>
          <a:lstStyle/>
          <a:p>
            <a:pPr algn="ctr" indent="0" marL="0">
              <a:buNone/>
            </a:pPr>
            <a:r>
              <a:rPr lang="en-US" sz="2400" b="1" dirty="0">
                <a:solidFill>
                  <a:srgbClr val="111827"/>
                </a:solidFill>
                <a:latin typeface="Arial" pitchFamily="34" charset="0"/>
                <a:ea typeface="Arial" pitchFamily="34" charset="-122"/>
                <a:cs typeface="Arial" pitchFamily="34" charset="-120"/>
              </a:rPr>
              <a:t>Vehicle</a:t>
            </a:r>
            <a:endParaRPr lang="en-US" sz="2400" dirty="0"/>
          </a:p>
          <a:p>
            <a:pPr algn="ctr" indent="0" marL="0">
              <a:buNone/>
            </a:pPr>
            <a:r>
              <a:rPr lang="en-US" sz="2400" b="1" dirty="0">
                <a:solidFill>
                  <a:srgbClr val="111827"/>
                </a:solidFill>
                <a:latin typeface="Arial" pitchFamily="34" charset="0"/>
                <a:ea typeface="Arial" pitchFamily="34" charset="-122"/>
                <a:cs typeface="Arial" pitchFamily="34" charset="-120"/>
              </a:rPr>
              <a:t>plant</a:t>
            </a:r>
            <a:endParaRPr lang="en-US" sz="2400" dirty="0"/>
          </a:p>
        </p:txBody>
      </p:sp>
      <p:sp>
        <p:nvSpPr>
          <p:cNvPr id="17" name="Text 15"/>
          <p:cNvSpPr txBox="1"/>
          <p:nvPr/>
        </p:nvSpPr>
        <p:spPr>
          <a:xfrm>
            <a:off x="3017520" y="3017520"/>
            <a:ext cx="1645920" cy="603504"/>
          </a:xfrm>
          <a:prstGeom prst="rect">
            <a:avLst/>
          </a:prstGeom>
          <a:noFill/>
          <a:ln/>
        </p:spPr>
        <p:txBody>
          <a:bodyPr wrap="square" lIns="0" tIns="0" rIns="0" bIns="0" rtlCol="0" anchor="t">
            <a:normAutofit/>
          </a:bodyPr>
          <a:lstStyle/>
          <a:p>
            <a:pPr algn="ctr" indent="0" marL="0">
              <a:buNone/>
            </a:pPr>
            <a:r>
              <a:rPr lang="en-US" sz="2400" b="1" dirty="0">
                <a:solidFill>
                  <a:srgbClr val="105B94"/>
                </a:solidFill>
                <a:latin typeface="Arial" pitchFamily="34" charset="0"/>
                <a:ea typeface="Arial" pitchFamily="34" charset="-122"/>
                <a:cs typeface="Arial" pitchFamily="34" charset="-120"/>
              </a:rPr>
              <a:t>Generalized UIO</a:t>
            </a:r>
            <a:endParaRPr lang="en-US" sz="2400" dirty="0"/>
          </a:p>
          <a:p>
            <a:pPr algn="ctr" indent="0" marL="0">
              <a:buNone/>
            </a:pPr>
            <a:r>
              <a:rPr lang="en-US" sz="2400" b="1" dirty="0">
                <a:solidFill>
                  <a:srgbClr val="105B94"/>
                </a:solidFill>
                <a:latin typeface="Arial" pitchFamily="34" charset="0"/>
                <a:ea typeface="Arial" pitchFamily="34" charset="-122"/>
                <a:cs typeface="Arial" pitchFamily="34" charset="-120"/>
              </a:rPr>
              <a:t>Layer 1</a:t>
            </a:r>
            <a:endParaRPr lang="en-US" sz="2400" dirty="0"/>
          </a:p>
        </p:txBody>
      </p:sp>
      <p:sp>
        <p:nvSpPr>
          <p:cNvPr id="18" name="Text 16"/>
          <p:cNvSpPr txBox="1"/>
          <p:nvPr/>
        </p:nvSpPr>
        <p:spPr>
          <a:xfrm>
            <a:off x="5779008" y="2999232"/>
            <a:ext cx="1773936" cy="621792"/>
          </a:xfrm>
          <a:prstGeom prst="rect">
            <a:avLst/>
          </a:prstGeom>
          <a:noFill/>
          <a:ln/>
        </p:spPr>
        <p:txBody>
          <a:bodyPr wrap="square" lIns="0" tIns="0" rIns="0" bIns="0" rtlCol="0" anchor="t">
            <a:normAutofit/>
          </a:bodyPr>
          <a:lstStyle/>
          <a:p>
            <a:pPr algn="ctr" indent="0" marL="0">
              <a:buNone/>
            </a:pPr>
            <a:r>
              <a:rPr lang="en-US" sz="2400" b="1" dirty="0">
                <a:solidFill>
                  <a:srgbClr val="1A7750"/>
                </a:solidFill>
                <a:latin typeface="Arial" pitchFamily="34" charset="0"/>
                <a:ea typeface="Arial" pitchFamily="34" charset="-122"/>
                <a:cs typeface="Arial" pitchFamily="34" charset="-120"/>
              </a:rPr>
              <a:t>μθ(·)</a:t>
            </a:r>
            <a:endParaRPr lang="en-US" sz="2400" dirty="0"/>
          </a:p>
          <a:p>
            <a:pPr algn="ctr" indent="0" marL="0">
              <a:buNone/>
            </a:pPr>
            <a:r>
              <a:rPr lang="en-US" sz="2400" b="1" dirty="0">
                <a:solidFill>
                  <a:srgbClr val="1A7750"/>
                </a:solidFill>
                <a:latin typeface="Arial" pitchFamily="34" charset="0"/>
                <a:ea typeface="Arial" pitchFamily="34" charset="-122"/>
                <a:cs typeface="Arial" pitchFamily="34" charset="-120"/>
              </a:rPr>
              <a:t>Neural model</a:t>
            </a:r>
            <a:endParaRPr lang="en-US" sz="2400" dirty="0"/>
          </a:p>
        </p:txBody>
      </p:sp>
      <p:sp>
        <p:nvSpPr>
          <p:cNvPr id="19" name="Text 17"/>
          <p:cNvSpPr txBox="1"/>
          <p:nvPr/>
        </p:nvSpPr>
        <p:spPr>
          <a:xfrm>
            <a:off x="8650224" y="3017520"/>
            <a:ext cx="2670048" cy="603504"/>
          </a:xfrm>
          <a:prstGeom prst="rect">
            <a:avLst/>
          </a:prstGeom>
          <a:noFill/>
          <a:ln/>
        </p:spPr>
        <p:txBody>
          <a:bodyPr wrap="square" lIns="0" tIns="0" rIns="0" bIns="0" rtlCol="0" anchor="t">
            <a:normAutofit/>
          </a:bodyPr>
          <a:lstStyle/>
          <a:p>
            <a:pPr algn="ctr" indent="0" marL="0">
              <a:buNone/>
            </a:pPr>
            <a:r>
              <a:rPr lang="en-US" sz="2400" b="1" dirty="0">
                <a:solidFill>
                  <a:srgbClr val="111827"/>
                </a:solidFill>
                <a:latin typeface="Arial" pitchFamily="34" charset="0"/>
                <a:ea typeface="Arial" pitchFamily="34" charset="-122"/>
                <a:cs typeface="Arial" pitchFamily="34" charset="-120"/>
              </a:rPr>
              <a:t>Neural adaptive observer</a:t>
            </a:r>
            <a:endParaRPr lang="en-US" sz="2400" dirty="0"/>
          </a:p>
          <a:p>
            <a:pPr algn="ctr" indent="0" marL="0">
              <a:buNone/>
            </a:pPr>
            <a:r>
              <a:rPr lang="en-US" sz="2400" b="1" dirty="0">
                <a:solidFill>
                  <a:srgbClr val="111827"/>
                </a:solidFill>
                <a:latin typeface="Arial" pitchFamily="34" charset="0"/>
                <a:ea typeface="Arial" pitchFamily="34" charset="-122"/>
                <a:cs typeface="Arial" pitchFamily="34" charset="-120"/>
              </a:rPr>
              <a:t>Layer 2</a:t>
            </a:r>
            <a:endParaRPr lang="en-US" sz="2400" dirty="0"/>
          </a:p>
        </p:txBody>
      </p:sp>
      <p:sp>
        <p:nvSpPr>
          <p:cNvPr id="20" name="Text 18"/>
          <p:cNvSpPr txBox="1"/>
          <p:nvPr/>
        </p:nvSpPr>
        <p:spPr>
          <a:xfrm>
            <a:off x="2240280" y="3090672"/>
            <a:ext cx="365760" cy="182880"/>
          </a:xfrm>
          <a:prstGeom prst="rect">
            <a:avLst/>
          </a:prstGeom>
          <a:noFill/>
          <a:ln/>
        </p:spPr>
        <p:txBody>
          <a:bodyPr wrap="square" lIns="0" tIns="0" rIns="0" bIns="0" rtlCol="0" anchor="t">
            <a:normAutofit/>
          </a:bodyPr>
          <a:lstStyle/>
          <a:p>
            <a:pPr algn="ctr" indent="0" marL="0">
              <a:buNone/>
            </a:pPr>
            <a:r>
              <a:rPr lang="en-US" sz="1500" dirty="0">
                <a:solidFill>
                  <a:srgbClr val="52606D"/>
                </a:solidFill>
                <a:latin typeface="Arial" pitchFamily="34" charset="0"/>
                <a:ea typeface="Arial" pitchFamily="34" charset="-122"/>
                <a:cs typeface="Arial" pitchFamily="34" charset="-120"/>
              </a:rPr>
              <a:t>y, u</a:t>
            </a:r>
            <a:endParaRPr lang="en-US" sz="1500" dirty="0"/>
          </a:p>
        </p:txBody>
      </p:sp>
      <p:sp>
        <p:nvSpPr>
          <p:cNvPr id="21" name="Text 19"/>
          <p:cNvSpPr txBox="1"/>
          <p:nvPr/>
        </p:nvSpPr>
        <p:spPr>
          <a:xfrm>
            <a:off x="4946904" y="3072384"/>
            <a:ext cx="512064" cy="274320"/>
          </a:xfrm>
          <a:prstGeom prst="rect">
            <a:avLst/>
          </a:prstGeom>
          <a:noFill/>
          <a:ln/>
        </p:spPr>
        <p:txBody>
          <a:bodyPr wrap="square" lIns="0" tIns="0" rIns="0" bIns="0" rtlCol="0" anchor="t">
            <a:normAutofit/>
          </a:bodyPr>
          <a:lstStyle/>
          <a:p>
            <a:pPr algn="ctr" indent="0" marL="0">
              <a:buNone/>
            </a:pPr>
            <a:r>
              <a:rPr lang="en-US" sz="1350" dirty="0">
                <a:solidFill>
                  <a:srgbClr val="52606D"/>
                </a:solidFill>
                <a:latin typeface="Arial" pitchFamily="34" charset="0"/>
                <a:ea typeface="Arial" pitchFamily="34" charset="-122"/>
                <a:cs typeface="Arial" pitchFamily="34" charset="-120"/>
              </a:rPr>
              <a:t>x̂UIO, μ̂ₓ</a:t>
            </a:r>
            <a:endParaRPr lang="en-US" sz="1350" dirty="0"/>
          </a:p>
        </p:txBody>
      </p:sp>
      <p:sp>
        <p:nvSpPr>
          <p:cNvPr id="22" name="Text 20"/>
          <p:cNvSpPr txBox="1"/>
          <p:nvPr/>
        </p:nvSpPr>
        <p:spPr>
          <a:xfrm>
            <a:off x="7936992" y="3081528"/>
            <a:ext cx="347472" cy="182880"/>
          </a:xfrm>
          <a:prstGeom prst="rect">
            <a:avLst/>
          </a:prstGeom>
          <a:noFill/>
          <a:ln/>
        </p:spPr>
        <p:txBody>
          <a:bodyPr wrap="square" lIns="0" tIns="0" rIns="0" bIns="0" rtlCol="0" anchor="t">
            <a:normAutofit/>
          </a:bodyPr>
          <a:lstStyle/>
          <a:p>
            <a:pPr algn="ctr" indent="0" marL="0">
              <a:buNone/>
            </a:pPr>
            <a:r>
              <a:rPr lang="en-US" sz="1500" dirty="0">
                <a:solidFill>
                  <a:srgbClr val="52606D"/>
                </a:solidFill>
                <a:latin typeface="Arial" pitchFamily="34" charset="0"/>
                <a:ea typeface="Arial" pitchFamily="34" charset="-122"/>
                <a:cs typeface="Arial" pitchFamily="34" charset="-120"/>
              </a:rPr>
              <a:t>μθ</a:t>
            </a:r>
            <a:endParaRPr lang="en-US" sz="1500" dirty="0"/>
          </a:p>
        </p:txBody>
      </p:sp>
      <p:sp>
        <p:nvSpPr>
          <p:cNvPr id="23" name="Shape 21"/>
          <p:cNvSpPr/>
          <p:nvPr/>
        </p:nvSpPr>
        <p:spPr>
          <a:xfrm>
            <a:off x="2871216" y="4937760"/>
            <a:ext cx="3401568" cy="621792"/>
          </a:xfrm>
          <a:prstGeom prst="rect">
            <a:avLst/>
          </a:prstGeom>
          <a:solidFill>
            <a:srgbClr val="DCEEF9"/>
          </a:solidFill>
          <a:ln w="12700">
            <a:solidFill>
              <a:srgbClr val="DCEEF9">
                <a:alpha val="0"/>
              </a:srgbClr>
            </a:solidFill>
            <a:prstDash val="solid"/>
          </a:ln>
        </p:spPr>
      </p:sp>
      <p:sp>
        <p:nvSpPr>
          <p:cNvPr id="24" name="Text 22"/>
          <p:cNvSpPr txBox="1"/>
          <p:nvPr/>
        </p:nvSpPr>
        <p:spPr>
          <a:xfrm>
            <a:off x="3127248" y="5084064"/>
            <a:ext cx="2898648" cy="310896"/>
          </a:xfrm>
          <a:prstGeom prst="rect">
            <a:avLst/>
          </a:prstGeom>
          <a:noFill/>
          <a:ln/>
        </p:spPr>
        <p:txBody>
          <a:bodyPr wrap="square" lIns="0" tIns="0" rIns="0" bIns="0" rtlCol="0" anchor="ctr">
            <a:normAutofit/>
          </a:bodyPr>
          <a:lstStyle/>
          <a:p>
            <a:pPr algn="ctr" indent="0" marL="0">
              <a:buNone/>
            </a:pPr>
            <a:r>
              <a:rPr lang="en-US" sz="1660" b="1" dirty="0">
                <a:solidFill>
                  <a:srgbClr val="105B94"/>
                </a:solidFill>
                <a:latin typeface="Arial" pitchFamily="34" charset="0"/>
                <a:ea typeface="Arial" pitchFamily="34" charset="-122"/>
                <a:cs typeface="Arial" pitchFamily="34" charset="-120"/>
              </a:rPr>
              <a:t>Composite loss regularizes Layer 2</a:t>
            </a:r>
            <a:endParaRPr lang="en-US" sz="1660" dirty="0"/>
          </a:p>
          <a:p>
            <a:pPr algn="ctr" indent="0" marL="0">
              <a:buNone/>
            </a:pPr>
            <a:r>
              <a:rPr lang="en-US" sz="1660" b="1" dirty="0">
                <a:solidFill>
                  <a:srgbClr val="105B94"/>
                </a:solidFill>
                <a:latin typeface="Arial" pitchFamily="34" charset="0"/>
                <a:ea typeface="Arial" pitchFamily="34" charset="-122"/>
                <a:cs typeface="Arial" pitchFamily="34" charset="-120"/>
              </a:rPr>
              <a:t>with the Layer 1 reference.</a:t>
            </a:r>
            <a:endParaRPr lang="en-US" sz="1660" dirty="0"/>
          </a:p>
        </p:txBody>
      </p:sp>
      <p:sp>
        <p:nvSpPr>
          <p:cNvPr id="25" name="Text 23"/>
          <p:cNvSpPr txBox="1"/>
          <p:nvPr/>
        </p:nvSpPr>
        <p:spPr>
          <a:xfrm>
            <a:off x="512064" y="5779008"/>
            <a:ext cx="11064240" cy="384048"/>
          </a:xfrm>
          <a:prstGeom prst="rect">
            <a:avLst/>
          </a:prstGeom>
          <a:noFill/>
          <a:ln/>
        </p:spPr>
        <p:txBody>
          <a:bodyPr wrap="square" lIns="0" tIns="0" rIns="0" bIns="0" rtlCol="0" anchor="ctr">
            <a:normAutofit/>
          </a:bodyPr>
          <a:lstStyle/>
          <a:p>
            <a:pPr algn="ctr" indent="0" marL="0">
              <a:buNone/>
            </a:pPr>
            <a:r>
              <a:rPr lang="en-US" sz="1560" dirty="0">
                <a:solidFill>
                  <a:srgbClr val="52606D"/>
                </a:solidFill>
                <a:latin typeface="Arial" pitchFamily="34" charset="0"/>
                <a:ea typeface="Arial" pitchFamily="34" charset="-122"/>
                <a:cs typeface="Arial" pitchFamily="34" charset="-120"/>
              </a:rPr>
              <a:t>Outcome: Layer 1 gives bounded residuals; Layer 2 learns the repeatable state-dependent component.</a:t>
            </a:r>
            <a:endParaRPr lang="en-US" sz="15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LAYER 2 · OBJECTIVE</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08</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The loss keeps learning tethered to physics</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The loss combines task performance with measurement consistency and UIO supervision.</a:t>
            </a:r>
            <a:endParaRPr lang="en-US" sz="1550" dirty="0"/>
          </a:p>
        </p:txBody>
      </p:sp>
      <p:sp>
        <p:nvSpPr>
          <p:cNvPr id="8" name="Shape 6"/>
          <p:cNvSpPr/>
          <p:nvPr/>
        </p:nvSpPr>
        <p:spPr>
          <a:xfrm>
            <a:off x="502920" y="1746504"/>
            <a:ext cx="11155680" cy="1115568"/>
          </a:xfrm>
          <a:prstGeom prst="rect">
            <a:avLst/>
          </a:prstGeom>
          <a:solidFill>
            <a:srgbClr val="111827"/>
          </a:solidFill>
          <a:ln w="12700">
            <a:solidFill>
              <a:srgbClr val="111827">
                <a:alpha val="0"/>
              </a:srgbClr>
            </a:solidFill>
            <a:prstDash val="solid"/>
          </a:ln>
        </p:spPr>
      </p:sp>
      <p:sp>
        <p:nvSpPr>
          <p:cNvPr id="9" name="Text 7"/>
          <p:cNvSpPr txBox="1"/>
          <p:nvPr/>
        </p:nvSpPr>
        <p:spPr>
          <a:xfrm>
            <a:off x="841248" y="2112264"/>
            <a:ext cx="10497312" cy="329184"/>
          </a:xfrm>
          <a:prstGeom prst="rect">
            <a:avLst/>
          </a:prstGeom>
          <a:noFill/>
          <a:ln/>
        </p:spPr>
        <p:txBody>
          <a:bodyPr wrap="square" lIns="0" tIns="0" rIns="0" bIns="0" rtlCol="0" anchor="t">
            <a:normAutofit/>
          </a:bodyPr>
          <a:lstStyle/>
          <a:p>
            <a:pPr algn="ctr" indent="0" marL="0">
              <a:buNone/>
            </a:pPr>
            <a:r>
              <a:rPr lang="en-US" sz="2500" b="1" dirty="0">
                <a:solidFill>
                  <a:srgbClr val="FFFFFF"/>
                </a:solidFill>
                <a:latin typeface="Arial" pitchFamily="34" charset="0"/>
                <a:ea typeface="Arial" pitchFamily="34" charset="-122"/>
                <a:cs typeface="Arial" pitchFamily="34" charset="-120"/>
              </a:rPr>
              <a:t>L = tracking error + output error + UIO consistency + residual regularization</a:t>
            </a:r>
            <a:endParaRPr lang="en-US" sz="2500" dirty="0"/>
          </a:p>
        </p:txBody>
      </p:sp>
      <p:sp>
        <p:nvSpPr>
          <p:cNvPr id="10" name="Shape 8"/>
          <p:cNvSpPr/>
          <p:nvPr/>
        </p:nvSpPr>
        <p:spPr>
          <a:xfrm>
            <a:off x="502920" y="3419856"/>
            <a:ext cx="2606040" cy="1645920"/>
          </a:xfrm>
          <a:prstGeom prst="rect">
            <a:avLst/>
          </a:prstGeom>
          <a:solidFill>
            <a:srgbClr val="F3F5F7"/>
          </a:solidFill>
          <a:ln w="12700">
            <a:solidFill>
              <a:srgbClr val="F3F5F7">
                <a:alpha val="0"/>
              </a:srgbClr>
            </a:solidFill>
            <a:prstDash val="solid"/>
          </a:ln>
        </p:spPr>
      </p:sp>
      <p:sp>
        <p:nvSpPr>
          <p:cNvPr id="11" name="Shape 9"/>
          <p:cNvSpPr/>
          <p:nvPr/>
        </p:nvSpPr>
        <p:spPr>
          <a:xfrm>
            <a:off x="502920" y="3419856"/>
            <a:ext cx="2606040" cy="201168"/>
          </a:xfrm>
          <a:prstGeom prst="rect">
            <a:avLst/>
          </a:prstGeom>
          <a:solidFill>
            <a:srgbClr val="1677C8"/>
          </a:solidFill>
          <a:ln w="12700">
            <a:solidFill>
              <a:srgbClr val="1677C8">
                <a:alpha val="0"/>
              </a:srgbClr>
            </a:solidFill>
            <a:prstDash val="solid"/>
          </a:ln>
        </p:spPr>
      </p:sp>
      <p:sp>
        <p:nvSpPr>
          <p:cNvPr id="12" name="Text 10"/>
          <p:cNvSpPr txBox="1"/>
          <p:nvPr/>
        </p:nvSpPr>
        <p:spPr>
          <a:xfrm>
            <a:off x="685800" y="3831336"/>
            <a:ext cx="2240280" cy="292608"/>
          </a:xfrm>
          <a:prstGeom prst="rect">
            <a:avLst/>
          </a:prstGeom>
          <a:noFill/>
          <a:ln/>
        </p:spPr>
        <p:txBody>
          <a:bodyPr wrap="square" lIns="0" tIns="0" rIns="0" bIns="0" rtlCol="0" anchor="t">
            <a:normAutofit/>
          </a:bodyPr>
          <a:lstStyle/>
          <a:p>
            <a:pPr algn="ctr" indent="0" marL="0">
              <a:buNone/>
            </a:pPr>
            <a:r>
              <a:rPr lang="en-US" sz="2300" b="1" dirty="0">
                <a:solidFill>
                  <a:srgbClr val="1677C8"/>
                </a:solidFill>
                <a:latin typeface="Arial" pitchFamily="34" charset="0"/>
                <a:ea typeface="Arial" pitchFamily="34" charset="-122"/>
                <a:cs typeface="Arial" pitchFamily="34" charset="-120"/>
              </a:rPr>
              <a:t>Track</a:t>
            </a:r>
            <a:endParaRPr lang="en-US" sz="2300" dirty="0"/>
          </a:p>
        </p:txBody>
      </p:sp>
      <p:sp>
        <p:nvSpPr>
          <p:cNvPr id="13" name="Text 11"/>
          <p:cNvSpPr txBox="1"/>
          <p:nvPr/>
        </p:nvSpPr>
        <p:spPr>
          <a:xfrm>
            <a:off x="704088" y="4370832"/>
            <a:ext cx="2203704" cy="384048"/>
          </a:xfrm>
          <a:prstGeom prst="rect">
            <a:avLst/>
          </a:prstGeom>
          <a:noFill/>
          <a:ln/>
        </p:spPr>
        <p:txBody>
          <a:bodyPr wrap="square" lIns="0" tIns="0" rIns="0" bIns="0" rtlCol="0" anchor="t">
            <a:normAutofit/>
          </a:bodyPr>
          <a:lstStyle/>
          <a:p>
            <a:pPr algn="ctr" indent="0" marL="0">
              <a:buNone/>
            </a:pPr>
            <a:r>
              <a:rPr lang="en-US" sz="1750" dirty="0">
                <a:solidFill>
                  <a:srgbClr val="111827"/>
                </a:solidFill>
                <a:latin typeface="Arial" pitchFamily="34" charset="0"/>
                <a:ea typeface="Arial" pitchFamily="34" charset="-122"/>
                <a:cs typeface="Arial" pitchFamily="34" charset="-120"/>
              </a:rPr>
              <a:t>x̂NN stays near xref</a:t>
            </a:r>
            <a:endParaRPr lang="en-US" sz="1750" dirty="0"/>
          </a:p>
        </p:txBody>
      </p:sp>
      <p:sp>
        <p:nvSpPr>
          <p:cNvPr id="14" name="Shape 12"/>
          <p:cNvSpPr/>
          <p:nvPr/>
        </p:nvSpPr>
        <p:spPr>
          <a:xfrm>
            <a:off x="3310128" y="3419856"/>
            <a:ext cx="2606040" cy="1645920"/>
          </a:xfrm>
          <a:prstGeom prst="rect">
            <a:avLst/>
          </a:prstGeom>
          <a:solidFill>
            <a:srgbClr val="F3F5F7"/>
          </a:solidFill>
          <a:ln w="12700">
            <a:solidFill>
              <a:srgbClr val="F3F5F7">
                <a:alpha val="0"/>
              </a:srgbClr>
            </a:solidFill>
            <a:prstDash val="solid"/>
          </a:ln>
        </p:spPr>
      </p:sp>
      <p:sp>
        <p:nvSpPr>
          <p:cNvPr id="15" name="Shape 13"/>
          <p:cNvSpPr/>
          <p:nvPr/>
        </p:nvSpPr>
        <p:spPr>
          <a:xfrm>
            <a:off x="3310128" y="3419856"/>
            <a:ext cx="2606040" cy="201168"/>
          </a:xfrm>
          <a:prstGeom prst="rect">
            <a:avLst/>
          </a:prstGeom>
          <a:solidFill>
            <a:srgbClr val="2FAE75"/>
          </a:solidFill>
          <a:ln w="12700">
            <a:solidFill>
              <a:srgbClr val="2FAE75">
                <a:alpha val="0"/>
              </a:srgbClr>
            </a:solidFill>
            <a:prstDash val="solid"/>
          </a:ln>
        </p:spPr>
      </p:sp>
      <p:sp>
        <p:nvSpPr>
          <p:cNvPr id="16" name="Text 14"/>
          <p:cNvSpPr txBox="1"/>
          <p:nvPr/>
        </p:nvSpPr>
        <p:spPr>
          <a:xfrm>
            <a:off x="3493008" y="3831336"/>
            <a:ext cx="2240280" cy="292608"/>
          </a:xfrm>
          <a:prstGeom prst="rect">
            <a:avLst/>
          </a:prstGeom>
          <a:noFill/>
          <a:ln/>
        </p:spPr>
        <p:txBody>
          <a:bodyPr wrap="square" lIns="0" tIns="0" rIns="0" bIns="0" rtlCol="0" anchor="t">
            <a:normAutofit/>
          </a:bodyPr>
          <a:lstStyle/>
          <a:p>
            <a:pPr algn="ctr" indent="0" marL="0">
              <a:buNone/>
            </a:pPr>
            <a:r>
              <a:rPr lang="en-US" sz="2300" b="1" dirty="0">
                <a:solidFill>
                  <a:srgbClr val="2FAE75"/>
                </a:solidFill>
                <a:latin typeface="Arial" pitchFamily="34" charset="0"/>
                <a:ea typeface="Arial" pitchFamily="34" charset="-122"/>
                <a:cs typeface="Arial" pitchFamily="34" charset="-120"/>
              </a:rPr>
              <a:t>Measure</a:t>
            </a:r>
            <a:endParaRPr lang="en-US" sz="2300" dirty="0"/>
          </a:p>
        </p:txBody>
      </p:sp>
      <p:sp>
        <p:nvSpPr>
          <p:cNvPr id="17" name="Text 15"/>
          <p:cNvSpPr txBox="1"/>
          <p:nvPr/>
        </p:nvSpPr>
        <p:spPr>
          <a:xfrm>
            <a:off x="3511296" y="4370832"/>
            <a:ext cx="2203704" cy="384048"/>
          </a:xfrm>
          <a:prstGeom prst="rect">
            <a:avLst/>
          </a:prstGeom>
          <a:noFill/>
          <a:ln/>
        </p:spPr>
        <p:txBody>
          <a:bodyPr wrap="square" lIns="0" tIns="0" rIns="0" bIns="0" rtlCol="0" anchor="t">
            <a:normAutofit/>
          </a:bodyPr>
          <a:lstStyle/>
          <a:p>
            <a:pPr algn="ctr" indent="0" marL="0">
              <a:buNone/>
            </a:pPr>
            <a:r>
              <a:rPr lang="en-US" sz="1750" dirty="0">
                <a:solidFill>
                  <a:srgbClr val="111827"/>
                </a:solidFill>
                <a:latin typeface="Arial" pitchFamily="34" charset="0"/>
                <a:ea typeface="Arial" pitchFamily="34" charset="-122"/>
                <a:cs typeface="Arial" pitchFamily="34" charset="-120"/>
              </a:rPr>
              <a:t>yNN stays near y</a:t>
            </a:r>
            <a:endParaRPr lang="en-US" sz="1750" dirty="0"/>
          </a:p>
        </p:txBody>
      </p:sp>
      <p:sp>
        <p:nvSpPr>
          <p:cNvPr id="18" name="Shape 16"/>
          <p:cNvSpPr/>
          <p:nvPr/>
        </p:nvSpPr>
        <p:spPr>
          <a:xfrm>
            <a:off x="6117336" y="3419856"/>
            <a:ext cx="2606040" cy="1645920"/>
          </a:xfrm>
          <a:prstGeom prst="rect">
            <a:avLst/>
          </a:prstGeom>
          <a:solidFill>
            <a:srgbClr val="F3F5F7"/>
          </a:solidFill>
          <a:ln w="12700">
            <a:solidFill>
              <a:srgbClr val="F3F5F7">
                <a:alpha val="0"/>
              </a:srgbClr>
            </a:solidFill>
            <a:prstDash val="solid"/>
          </a:ln>
        </p:spPr>
      </p:sp>
      <p:sp>
        <p:nvSpPr>
          <p:cNvPr id="19" name="Shape 17"/>
          <p:cNvSpPr/>
          <p:nvPr/>
        </p:nvSpPr>
        <p:spPr>
          <a:xfrm>
            <a:off x="6117336" y="3419856"/>
            <a:ext cx="2606040" cy="201168"/>
          </a:xfrm>
          <a:prstGeom prst="rect">
            <a:avLst/>
          </a:prstGeom>
          <a:solidFill>
            <a:srgbClr val="9B6CC1"/>
          </a:solidFill>
          <a:ln w="12700">
            <a:solidFill>
              <a:srgbClr val="9B6CC1">
                <a:alpha val="0"/>
              </a:srgbClr>
            </a:solidFill>
            <a:prstDash val="solid"/>
          </a:ln>
        </p:spPr>
      </p:sp>
      <p:sp>
        <p:nvSpPr>
          <p:cNvPr id="20" name="Text 18"/>
          <p:cNvSpPr txBox="1"/>
          <p:nvPr/>
        </p:nvSpPr>
        <p:spPr>
          <a:xfrm>
            <a:off x="6300216" y="3831336"/>
            <a:ext cx="2240280" cy="292608"/>
          </a:xfrm>
          <a:prstGeom prst="rect">
            <a:avLst/>
          </a:prstGeom>
          <a:noFill/>
          <a:ln/>
        </p:spPr>
        <p:txBody>
          <a:bodyPr wrap="square" lIns="0" tIns="0" rIns="0" bIns="0" rtlCol="0" anchor="t">
            <a:normAutofit/>
          </a:bodyPr>
          <a:lstStyle/>
          <a:p>
            <a:pPr algn="ctr" indent="0" marL="0">
              <a:buNone/>
            </a:pPr>
            <a:r>
              <a:rPr lang="en-US" sz="2300" b="1" dirty="0">
                <a:solidFill>
                  <a:srgbClr val="9B6CC1"/>
                </a:solidFill>
                <a:latin typeface="Arial" pitchFamily="34" charset="0"/>
                <a:ea typeface="Arial" pitchFamily="34" charset="-122"/>
                <a:cs typeface="Arial" pitchFamily="34" charset="-120"/>
              </a:rPr>
              <a:t>Match</a:t>
            </a:r>
            <a:endParaRPr lang="en-US" sz="2300" dirty="0"/>
          </a:p>
        </p:txBody>
      </p:sp>
      <p:sp>
        <p:nvSpPr>
          <p:cNvPr id="21" name="Text 19"/>
          <p:cNvSpPr txBox="1"/>
          <p:nvPr/>
        </p:nvSpPr>
        <p:spPr>
          <a:xfrm>
            <a:off x="6318504" y="4370832"/>
            <a:ext cx="2203704" cy="384048"/>
          </a:xfrm>
          <a:prstGeom prst="rect">
            <a:avLst/>
          </a:prstGeom>
          <a:noFill/>
          <a:ln/>
        </p:spPr>
        <p:txBody>
          <a:bodyPr wrap="square" lIns="0" tIns="0" rIns="0" bIns="0" rtlCol="0" anchor="t">
            <a:normAutofit/>
          </a:bodyPr>
          <a:lstStyle/>
          <a:p>
            <a:pPr algn="ctr" indent="0" marL="0">
              <a:buNone/>
            </a:pPr>
            <a:r>
              <a:rPr lang="en-US" sz="1750" dirty="0">
                <a:solidFill>
                  <a:srgbClr val="111827"/>
                </a:solidFill>
                <a:latin typeface="Arial" pitchFamily="34" charset="0"/>
                <a:ea typeface="Arial" pitchFamily="34" charset="-122"/>
                <a:cs typeface="Arial" pitchFamily="34" charset="-120"/>
              </a:rPr>
              <a:t>x̂NN stays near x̂UIO</a:t>
            </a:r>
            <a:endParaRPr lang="en-US" sz="1750" dirty="0"/>
          </a:p>
        </p:txBody>
      </p:sp>
      <p:sp>
        <p:nvSpPr>
          <p:cNvPr id="22" name="Shape 20"/>
          <p:cNvSpPr/>
          <p:nvPr/>
        </p:nvSpPr>
        <p:spPr>
          <a:xfrm>
            <a:off x="8924544" y="3419856"/>
            <a:ext cx="2606040" cy="1645920"/>
          </a:xfrm>
          <a:prstGeom prst="rect">
            <a:avLst/>
          </a:prstGeom>
          <a:solidFill>
            <a:srgbClr val="F3F5F7"/>
          </a:solidFill>
          <a:ln w="12700">
            <a:solidFill>
              <a:srgbClr val="F3F5F7">
                <a:alpha val="0"/>
              </a:srgbClr>
            </a:solidFill>
            <a:prstDash val="solid"/>
          </a:ln>
        </p:spPr>
      </p:sp>
      <p:sp>
        <p:nvSpPr>
          <p:cNvPr id="23" name="Shape 21"/>
          <p:cNvSpPr/>
          <p:nvPr/>
        </p:nvSpPr>
        <p:spPr>
          <a:xfrm>
            <a:off x="8924544" y="3419856"/>
            <a:ext cx="2606040" cy="201168"/>
          </a:xfrm>
          <a:prstGeom prst="rect">
            <a:avLst/>
          </a:prstGeom>
          <a:solidFill>
            <a:srgbClr val="EE9A17"/>
          </a:solidFill>
          <a:ln w="12700">
            <a:solidFill>
              <a:srgbClr val="EE9A17">
                <a:alpha val="0"/>
              </a:srgbClr>
            </a:solidFill>
            <a:prstDash val="solid"/>
          </a:ln>
        </p:spPr>
      </p:sp>
      <p:sp>
        <p:nvSpPr>
          <p:cNvPr id="24" name="Text 22"/>
          <p:cNvSpPr txBox="1"/>
          <p:nvPr/>
        </p:nvSpPr>
        <p:spPr>
          <a:xfrm>
            <a:off x="9107424" y="3831336"/>
            <a:ext cx="2240280" cy="292608"/>
          </a:xfrm>
          <a:prstGeom prst="rect">
            <a:avLst/>
          </a:prstGeom>
          <a:noFill/>
          <a:ln/>
        </p:spPr>
        <p:txBody>
          <a:bodyPr wrap="square" lIns="0" tIns="0" rIns="0" bIns="0" rtlCol="0" anchor="t">
            <a:normAutofit/>
          </a:bodyPr>
          <a:lstStyle/>
          <a:p>
            <a:pPr algn="ctr" indent="0" marL="0">
              <a:buNone/>
            </a:pPr>
            <a:r>
              <a:rPr lang="en-US" sz="2300" b="1" dirty="0">
                <a:solidFill>
                  <a:srgbClr val="EE9A17"/>
                </a:solidFill>
                <a:latin typeface="Arial" pitchFamily="34" charset="0"/>
                <a:ea typeface="Arial" pitchFamily="34" charset="-122"/>
                <a:cs typeface="Arial" pitchFamily="34" charset="-120"/>
              </a:rPr>
              <a:t>Learn</a:t>
            </a:r>
            <a:endParaRPr lang="en-US" sz="2300" dirty="0"/>
          </a:p>
        </p:txBody>
      </p:sp>
      <p:sp>
        <p:nvSpPr>
          <p:cNvPr id="25" name="Text 23"/>
          <p:cNvSpPr txBox="1"/>
          <p:nvPr/>
        </p:nvSpPr>
        <p:spPr>
          <a:xfrm>
            <a:off x="9125712" y="4370832"/>
            <a:ext cx="2203704" cy="384048"/>
          </a:xfrm>
          <a:prstGeom prst="rect">
            <a:avLst/>
          </a:prstGeom>
          <a:noFill/>
          <a:ln/>
        </p:spPr>
        <p:txBody>
          <a:bodyPr wrap="square" lIns="0" tIns="0" rIns="0" bIns="0" rtlCol="0" anchor="t">
            <a:normAutofit/>
          </a:bodyPr>
          <a:lstStyle/>
          <a:p>
            <a:pPr algn="ctr" indent="0" marL="0">
              <a:buNone/>
            </a:pPr>
            <a:r>
              <a:rPr lang="en-US" sz="1750" dirty="0">
                <a:solidFill>
                  <a:srgbClr val="111827"/>
                </a:solidFill>
                <a:latin typeface="Arial" pitchFamily="34" charset="0"/>
                <a:ea typeface="Arial" pitchFamily="34" charset="-122"/>
                <a:cs typeface="Arial" pitchFamily="34" charset="-120"/>
              </a:rPr>
              <a:t>μθ stays near μ̂ₓ</a:t>
            </a:r>
            <a:endParaRPr lang="en-US" sz="1750" dirty="0"/>
          </a:p>
        </p:txBody>
      </p:sp>
      <p:sp>
        <p:nvSpPr>
          <p:cNvPr id="26" name="Shape 24"/>
          <p:cNvSpPr/>
          <p:nvPr/>
        </p:nvSpPr>
        <p:spPr>
          <a:xfrm>
            <a:off x="502920" y="5504688"/>
            <a:ext cx="11155680" cy="493776"/>
          </a:xfrm>
          <a:prstGeom prst="rect">
            <a:avLst/>
          </a:prstGeom>
          <a:solidFill>
            <a:srgbClr val="DCEEF9"/>
          </a:solidFill>
          <a:ln w="12700">
            <a:solidFill>
              <a:srgbClr val="DCEEF9">
                <a:alpha val="0"/>
              </a:srgbClr>
            </a:solidFill>
            <a:prstDash val="solid"/>
          </a:ln>
        </p:spPr>
      </p:sp>
      <p:sp>
        <p:nvSpPr>
          <p:cNvPr id="27" name="Text 25"/>
          <p:cNvSpPr txBox="1"/>
          <p:nvPr/>
        </p:nvSpPr>
        <p:spPr>
          <a:xfrm>
            <a:off x="804672" y="5650992"/>
            <a:ext cx="10561320" cy="192024"/>
          </a:xfrm>
          <a:prstGeom prst="rect">
            <a:avLst/>
          </a:prstGeom>
          <a:noFill/>
          <a:ln/>
        </p:spPr>
        <p:txBody>
          <a:bodyPr wrap="square" lIns="0" tIns="0" rIns="0" bIns="0" rtlCol="0" anchor="t">
            <a:normAutofit/>
          </a:bodyPr>
          <a:lstStyle/>
          <a:p>
            <a:pPr algn="ctr" indent="0" marL="0">
              <a:buNone/>
            </a:pPr>
            <a:r>
              <a:rPr lang="en-US" sz="1800" b="1" dirty="0">
                <a:solidFill>
                  <a:srgbClr val="105B94"/>
                </a:solidFill>
                <a:latin typeface="Arial" pitchFamily="34" charset="0"/>
                <a:ea typeface="Arial" pitchFamily="34" charset="-122"/>
                <a:cs typeface="Arial" pitchFamily="34" charset="-120"/>
              </a:rPr>
              <a:t>For a given approximation mismatch Δx, an LMI certifies: ‖εNN‖L² ≤ λNN‖Δx‖L² + βNN‖εNN(0)‖.</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VEHICLE STUDY</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09</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Vehicle study: state and tire-force reconstruction</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A reduced vehicle model is simulated with tire-force residuals and parametric mismatch.</a:t>
            </a:r>
            <a:endParaRPr lang="en-US" sz="1550" dirty="0"/>
          </a:p>
        </p:txBody>
      </p:sp>
      <p:sp>
        <p:nvSpPr>
          <p:cNvPr id="8" name="Shape 6"/>
          <p:cNvSpPr/>
          <p:nvPr/>
        </p:nvSpPr>
        <p:spPr>
          <a:xfrm>
            <a:off x="502920" y="1773936"/>
            <a:ext cx="3657600" cy="3639312"/>
          </a:xfrm>
          <a:prstGeom prst="rect">
            <a:avLst/>
          </a:prstGeom>
          <a:solidFill>
            <a:srgbClr val="F3F5F7"/>
          </a:solidFill>
          <a:ln w="12700">
            <a:solidFill>
              <a:srgbClr val="F3F5F7">
                <a:alpha val="0"/>
              </a:srgbClr>
            </a:solidFill>
            <a:prstDash val="solid"/>
          </a:ln>
        </p:spPr>
      </p:sp>
      <p:sp>
        <p:nvSpPr>
          <p:cNvPr id="9" name="Shape 7"/>
          <p:cNvSpPr/>
          <p:nvPr/>
        </p:nvSpPr>
        <p:spPr>
          <a:xfrm>
            <a:off x="804672" y="2075688"/>
            <a:ext cx="1490472" cy="256032"/>
          </a:xfrm>
          <a:prstGeom prst="rect">
            <a:avLst/>
          </a:prstGeom>
          <a:solidFill>
            <a:srgbClr val="111827"/>
          </a:solidFill>
          <a:ln w="12700">
            <a:solidFill>
              <a:srgbClr val="111827">
                <a:alpha val="0"/>
              </a:srgbClr>
            </a:solidFill>
            <a:prstDash val="solid"/>
          </a:ln>
        </p:spPr>
      </p:sp>
      <p:sp>
        <p:nvSpPr>
          <p:cNvPr id="10" name="Text 8"/>
          <p:cNvSpPr txBox="1"/>
          <p:nvPr/>
        </p:nvSpPr>
        <p:spPr>
          <a:xfrm>
            <a:off x="896112" y="2130552"/>
            <a:ext cx="1307592" cy="128016"/>
          </a:xfrm>
          <a:prstGeom prst="rect">
            <a:avLst/>
          </a:prstGeom>
          <a:noFill/>
          <a:ln/>
        </p:spPr>
        <p:txBody>
          <a:bodyPr wrap="square" lIns="0" tIns="0" rIns="0" bIns="0" rtlCol="0" anchor="t">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SYSTEM VARIABLES</a:t>
            </a:r>
            <a:endParaRPr lang="en-US" sz="950" dirty="0"/>
          </a:p>
        </p:txBody>
      </p:sp>
      <p:sp>
        <p:nvSpPr>
          <p:cNvPr id="11" name="Text 9"/>
          <p:cNvSpPr txBox="1"/>
          <p:nvPr/>
        </p:nvSpPr>
        <p:spPr>
          <a:xfrm>
            <a:off x="822960" y="2633472"/>
            <a:ext cx="685800" cy="256032"/>
          </a:xfrm>
          <a:prstGeom prst="rect">
            <a:avLst/>
          </a:prstGeom>
          <a:noFill/>
          <a:ln/>
        </p:spPr>
        <p:txBody>
          <a:bodyPr wrap="square" lIns="0" tIns="0" rIns="0" bIns="0" rtlCol="0" anchor="t">
            <a:normAutofit/>
          </a:bodyPr>
          <a:lstStyle/>
          <a:p>
            <a:pPr algn="l" indent="0" marL="0">
              <a:buNone/>
            </a:pPr>
            <a:r>
              <a:rPr lang="en-US" sz="2000" b="1" dirty="0">
                <a:solidFill>
                  <a:srgbClr val="52606D"/>
                </a:solidFill>
                <a:latin typeface="Arial" pitchFamily="34" charset="0"/>
                <a:ea typeface="Arial" pitchFamily="34" charset="-122"/>
                <a:cs typeface="Arial" pitchFamily="34" charset="-120"/>
              </a:rPr>
              <a:t>State</a:t>
            </a:r>
            <a:endParaRPr lang="en-US" sz="2000" dirty="0"/>
          </a:p>
        </p:txBody>
      </p:sp>
      <p:sp>
        <p:nvSpPr>
          <p:cNvPr id="12" name="Text 10"/>
          <p:cNvSpPr txBox="1"/>
          <p:nvPr/>
        </p:nvSpPr>
        <p:spPr>
          <a:xfrm>
            <a:off x="1700784" y="2624328"/>
            <a:ext cx="2011680" cy="274320"/>
          </a:xfrm>
          <a:prstGeom prst="rect">
            <a:avLst/>
          </a:prstGeom>
          <a:noFill/>
          <a:ln/>
        </p:spPr>
        <p:txBody>
          <a:bodyPr wrap="square" lIns="0" tIns="0" rIns="0" bIns="0" rtlCol="0" anchor="t">
            <a:normAutofit/>
          </a:bodyPr>
          <a:lstStyle/>
          <a:p>
            <a:pPr algn="l" indent="0" marL="0">
              <a:buNone/>
            </a:pPr>
            <a:r>
              <a:rPr lang="en-US" sz="2050" dirty="0">
                <a:solidFill>
                  <a:srgbClr val="111827"/>
                </a:solidFill>
                <a:latin typeface="Arial" pitchFamily="34" charset="0"/>
                <a:ea typeface="Arial" pitchFamily="34" charset="-122"/>
                <a:cs typeface="Arial" pitchFamily="34" charset="-120"/>
              </a:rPr>
              <a:t>x = [vx, vy, ψ, r]ᵀ</a:t>
            </a:r>
            <a:endParaRPr lang="en-US" sz="2050" dirty="0"/>
          </a:p>
        </p:txBody>
      </p:sp>
      <p:sp>
        <p:nvSpPr>
          <p:cNvPr id="13" name="Text 11"/>
          <p:cNvSpPr txBox="1"/>
          <p:nvPr/>
        </p:nvSpPr>
        <p:spPr>
          <a:xfrm>
            <a:off x="822960" y="3227832"/>
            <a:ext cx="685800" cy="256032"/>
          </a:xfrm>
          <a:prstGeom prst="rect">
            <a:avLst/>
          </a:prstGeom>
          <a:noFill/>
          <a:ln/>
        </p:spPr>
        <p:txBody>
          <a:bodyPr wrap="square" lIns="0" tIns="0" rIns="0" bIns="0" rtlCol="0" anchor="t">
            <a:normAutofit/>
          </a:bodyPr>
          <a:lstStyle/>
          <a:p>
            <a:pPr algn="l" indent="0" marL="0">
              <a:buNone/>
            </a:pPr>
            <a:r>
              <a:rPr lang="en-US" sz="2000" b="1" dirty="0">
                <a:solidFill>
                  <a:srgbClr val="52606D"/>
                </a:solidFill>
                <a:latin typeface="Arial" pitchFamily="34" charset="0"/>
                <a:ea typeface="Arial" pitchFamily="34" charset="-122"/>
                <a:cs typeface="Arial" pitchFamily="34" charset="-120"/>
              </a:rPr>
              <a:t>Input</a:t>
            </a:r>
            <a:endParaRPr lang="en-US" sz="2000" dirty="0"/>
          </a:p>
        </p:txBody>
      </p:sp>
      <p:sp>
        <p:nvSpPr>
          <p:cNvPr id="14" name="Text 12"/>
          <p:cNvSpPr txBox="1"/>
          <p:nvPr/>
        </p:nvSpPr>
        <p:spPr>
          <a:xfrm>
            <a:off x="1700784" y="3218688"/>
            <a:ext cx="2011680" cy="274320"/>
          </a:xfrm>
          <a:prstGeom prst="rect">
            <a:avLst/>
          </a:prstGeom>
          <a:noFill/>
          <a:ln/>
        </p:spPr>
        <p:txBody>
          <a:bodyPr wrap="square" lIns="0" tIns="0" rIns="0" bIns="0" rtlCol="0" anchor="t">
            <a:normAutofit/>
          </a:bodyPr>
          <a:lstStyle/>
          <a:p>
            <a:pPr algn="l" indent="0" marL="0">
              <a:buNone/>
            </a:pPr>
            <a:r>
              <a:rPr lang="en-US" sz="2050" dirty="0">
                <a:solidFill>
                  <a:srgbClr val="111827"/>
                </a:solidFill>
                <a:latin typeface="Arial" pitchFamily="34" charset="0"/>
                <a:ea typeface="Arial" pitchFamily="34" charset="-122"/>
                <a:cs typeface="Arial" pitchFamily="34" charset="-120"/>
              </a:rPr>
              <a:t>u = [a, δ]ᵀ</a:t>
            </a:r>
            <a:endParaRPr lang="en-US" sz="2050" dirty="0"/>
          </a:p>
        </p:txBody>
      </p:sp>
      <p:sp>
        <p:nvSpPr>
          <p:cNvPr id="15" name="Text 13"/>
          <p:cNvSpPr txBox="1"/>
          <p:nvPr/>
        </p:nvSpPr>
        <p:spPr>
          <a:xfrm>
            <a:off x="822960" y="3822192"/>
            <a:ext cx="1097280" cy="256032"/>
          </a:xfrm>
          <a:prstGeom prst="rect">
            <a:avLst/>
          </a:prstGeom>
          <a:noFill/>
          <a:ln/>
        </p:spPr>
        <p:txBody>
          <a:bodyPr wrap="square" lIns="0" tIns="0" rIns="0" bIns="0" rtlCol="0" anchor="t">
            <a:normAutofit/>
          </a:bodyPr>
          <a:lstStyle/>
          <a:p>
            <a:pPr algn="l" indent="0" marL="0">
              <a:buNone/>
            </a:pPr>
            <a:r>
              <a:rPr lang="en-US" sz="1800" b="1" dirty="0">
                <a:solidFill>
                  <a:srgbClr val="52606D"/>
                </a:solidFill>
                <a:latin typeface="Arial" pitchFamily="34" charset="0"/>
                <a:ea typeface="Arial" pitchFamily="34" charset="-122"/>
                <a:cs typeface="Arial" pitchFamily="34" charset="-120"/>
              </a:rPr>
              <a:t>Measured</a:t>
            </a:r>
            <a:endParaRPr lang="en-US" sz="1800" dirty="0"/>
          </a:p>
        </p:txBody>
      </p:sp>
      <p:sp>
        <p:nvSpPr>
          <p:cNvPr id="16" name="Text 14"/>
          <p:cNvSpPr txBox="1"/>
          <p:nvPr/>
        </p:nvSpPr>
        <p:spPr>
          <a:xfrm>
            <a:off x="1947672" y="3813048"/>
            <a:ext cx="1764792" cy="274320"/>
          </a:xfrm>
          <a:prstGeom prst="rect">
            <a:avLst/>
          </a:prstGeom>
          <a:noFill/>
          <a:ln/>
        </p:spPr>
        <p:txBody>
          <a:bodyPr wrap="square" lIns="0" tIns="0" rIns="0" bIns="0" rtlCol="0" anchor="t">
            <a:normAutofit/>
          </a:bodyPr>
          <a:lstStyle/>
          <a:p>
            <a:pPr algn="l" indent="0" marL="0">
              <a:buNone/>
            </a:pPr>
            <a:r>
              <a:rPr lang="en-US" sz="2050" dirty="0">
                <a:solidFill>
                  <a:srgbClr val="111827"/>
                </a:solidFill>
                <a:latin typeface="Arial" pitchFamily="34" charset="0"/>
                <a:ea typeface="Arial" pitchFamily="34" charset="-122"/>
                <a:cs typeface="Arial" pitchFamily="34" charset="-120"/>
              </a:rPr>
              <a:t>y = [vx, ψ, r]ᵀ</a:t>
            </a:r>
            <a:endParaRPr lang="en-US" sz="2050" dirty="0"/>
          </a:p>
        </p:txBody>
      </p:sp>
      <p:sp>
        <p:nvSpPr>
          <p:cNvPr id="17" name="Text 15"/>
          <p:cNvSpPr txBox="1"/>
          <p:nvPr/>
        </p:nvSpPr>
        <p:spPr>
          <a:xfrm>
            <a:off x="822960" y="4416552"/>
            <a:ext cx="1097280" cy="256032"/>
          </a:xfrm>
          <a:prstGeom prst="rect">
            <a:avLst/>
          </a:prstGeom>
          <a:noFill/>
          <a:ln/>
        </p:spPr>
        <p:txBody>
          <a:bodyPr wrap="square" lIns="0" tIns="0" rIns="0" bIns="0" rtlCol="0" anchor="t">
            <a:normAutofit/>
          </a:bodyPr>
          <a:lstStyle/>
          <a:p>
            <a:pPr algn="l" indent="0" marL="0">
              <a:buNone/>
            </a:pPr>
            <a:r>
              <a:rPr lang="en-US" sz="1800" b="1" dirty="0">
                <a:solidFill>
                  <a:srgbClr val="52606D"/>
                </a:solidFill>
                <a:latin typeface="Arial" pitchFamily="34" charset="0"/>
                <a:ea typeface="Arial" pitchFamily="34" charset="-122"/>
                <a:cs typeface="Arial" pitchFamily="34" charset="-120"/>
              </a:rPr>
              <a:t>Unknown</a:t>
            </a:r>
            <a:endParaRPr lang="en-US" sz="1800" dirty="0"/>
          </a:p>
        </p:txBody>
      </p:sp>
      <p:sp>
        <p:nvSpPr>
          <p:cNvPr id="18" name="Text 16"/>
          <p:cNvSpPr txBox="1"/>
          <p:nvPr/>
        </p:nvSpPr>
        <p:spPr>
          <a:xfrm>
            <a:off x="1947672" y="4407408"/>
            <a:ext cx="1764792" cy="274320"/>
          </a:xfrm>
          <a:prstGeom prst="rect">
            <a:avLst/>
          </a:prstGeom>
          <a:noFill/>
          <a:ln/>
        </p:spPr>
        <p:txBody>
          <a:bodyPr wrap="square" lIns="0" tIns="0" rIns="0" bIns="0" rtlCol="0" anchor="t">
            <a:normAutofit/>
          </a:bodyPr>
          <a:lstStyle/>
          <a:p>
            <a:pPr algn="l" indent="0" marL="0">
              <a:buNone/>
            </a:pPr>
            <a:r>
              <a:rPr lang="en-US" sz="2050" b="1" dirty="0">
                <a:solidFill>
                  <a:srgbClr val="E5543D"/>
                </a:solidFill>
                <a:latin typeface="Arial" pitchFamily="34" charset="0"/>
                <a:ea typeface="Arial" pitchFamily="34" charset="-122"/>
                <a:cs typeface="Arial" pitchFamily="34" charset="-120"/>
              </a:rPr>
              <a:t>μₓ = [fyf, fyr]ᵀ</a:t>
            </a:r>
            <a:endParaRPr lang="en-US" sz="2050" dirty="0"/>
          </a:p>
        </p:txBody>
      </p:sp>
      <p:sp>
        <p:nvSpPr>
          <p:cNvPr id="19" name="Shape 17"/>
          <p:cNvSpPr/>
          <p:nvPr/>
        </p:nvSpPr>
        <p:spPr>
          <a:xfrm>
            <a:off x="5486400" y="3273552"/>
            <a:ext cx="868680" cy="0"/>
          </a:xfrm>
          <a:prstGeom prst="line">
            <a:avLst/>
          </a:prstGeom>
          <a:noFill/>
          <a:ln w="19050">
            <a:solidFill>
              <a:srgbClr val="52606D"/>
            </a:solidFill>
            <a:prstDash val="solid"/>
            <a:headEnd type="none"/>
            <a:tailEnd type="triangle"/>
          </a:ln>
        </p:spPr>
      </p:sp>
      <p:sp>
        <p:nvSpPr>
          <p:cNvPr id="20" name="Shape 18"/>
          <p:cNvSpPr/>
          <p:nvPr/>
        </p:nvSpPr>
        <p:spPr>
          <a:xfrm>
            <a:off x="7909560" y="3273552"/>
            <a:ext cx="868680" cy="0"/>
          </a:xfrm>
          <a:prstGeom prst="line">
            <a:avLst/>
          </a:prstGeom>
          <a:noFill/>
          <a:ln w="19050">
            <a:solidFill>
              <a:srgbClr val="52606D"/>
            </a:solidFill>
            <a:prstDash val="solid"/>
            <a:headEnd type="none"/>
            <a:tailEnd type="triangle"/>
          </a:ln>
        </p:spPr>
      </p:sp>
      <p:sp>
        <p:nvSpPr>
          <p:cNvPr id="21" name="Shape 19"/>
          <p:cNvSpPr/>
          <p:nvPr/>
        </p:nvSpPr>
        <p:spPr>
          <a:xfrm>
            <a:off x="4617720" y="2404872"/>
            <a:ext cx="868680" cy="1691640"/>
          </a:xfrm>
          <a:prstGeom prst="rect">
            <a:avLst/>
          </a:prstGeom>
          <a:solidFill>
            <a:srgbClr val="DCEEF9"/>
          </a:solidFill>
          <a:ln w="10160">
            <a:solidFill>
              <a:srgbClr val="B8DDF3"/>
            </a:solidFill>
            <a:prstDash val="solid"/>
          </a:ln>
        </p:spPr>
      </p:sp>
      <p:sp>
        <p:nvSpPr>
          <p:cNvPr id="22" name="Shape 20"/>
          <p:cNvSpPr/>
          <p:nvPr/>
        </p:nvSpPr>
        <p:spPr>
          <a:xfrm>
            <a:off x="6355080" y="2404872"/>
            <a:ext cx="1554480" cy="1691640"/>
          </a:xfrm>
          <a:prstGeom prst="rect">
            <a:avLst/>
          </a:prstGeom>
          <a:solidFill>
            <a:srgbClr val="111827"/>
          </a:solidFill>
          <a:ln w="12700">
            <a:solidFill>
              <a:srgbClr val="111827">
                <a:alpha val="0"/>
              </a:srgbClr>
            </a:solidFill>
            <a:prstDash val="solid"/>
          </a:ln>
        </p:spPr>
      </p:sp>
      <p:sp>
        <p:nvSpPr>
          <p:cNvPr id="23" name="Shape 21"/>
          <p:cNvSpPr/>
          <p:nvPr/>
        </p:nvSpPr>
        <p:spPr>
          <a:xfrm>
            <a:off x="8778240" y="2404872"/>
            <a:ext cx="2286000" cy="1691640"/>
          </a:xfrm>
          <a:prstGeom prst="rect">
            <a:avLst/>
          </a:prstGeom>
          <a:solidFill>
            <a:srgbClr val="EAF7F0"/>
          </a:solidFill>
          <a:ln w="10160">
            <a:solidFill>
              <a:srgbClr val="B8E4CC"/>
            </a:solidFill>
            <a:prstDash val="solid"/>
          </a:ln>
        </p:spPr>
      </p:sp>
      <p:sp>
        <p:nvSpPr>
          <p:cNvPr id="24" name="Text 22"/>
          <p:cNvSpPr txBox="1"/>
          <p:nvPr/>
        </p:nvSpPr>
        <p:spPr>
          <a:xfrm>
            <a:off x="4736592" y="3017520"/>
            <a:ext cx="621792" cy="329184"/>
          </a:xfrm>
          <a:prstGeom prst="rect">
            <a:avLst/>
          </a:prstGeom>
          <a:noFill/>
          <a:ln/>
        </p:spPr>
        <p:txBody>
          <a:bodyPr wrap="square" lIns="0" tIns="0" rIns="0" bIns="0" rtlCol="0" anchor="t">
            <a:normAutofit/>
          </a:bodyPr>
          <a:lstStyle/>
          <a:p>
            <a:pPr algn="ctr" indent="0" marL="0">
              <a:buNone/>
            </a:pPr>
            <a:r>
              <a:rPr lang="en-US" sz="2700" b="1" dirty="0">
                <a:solidFill>
                  <a:srgbClr val="105B94"/>
                </a:solidFill>
                <a:latin typeface="Arial" pitchFamily="34" charset="0"/>
                <a:ea typeface="Arial" pitchFamily="34" charset="-122"/>
                <a:cs typeface="Arial" pitchFamily="34" charset="-120"/>
              </a:rPr>
              <a:t>y</a:t>
            </a:r>
            <a:endParaRPr lang="en-US" sz="2700" dirty="0"/>
          </a:p>
        </p:txBody>
      </p:sp>
      <p:sp>
        <p:nvSpPr>
          <p:cNvPr id="25" name="Text 23"/>
          <p:cNvSpPr txBox="1"/>
          <p:nvPr/>
        </p:nvSpPr>
        <p:spPr>
          <a:xfrm>
            <a:off x="6656832" y="2834640"/>
            <a:ext cx="950976" cy="548640"/>
          </a:xfrm>
          <a:prstGeom prst="rect">
            <a:avLst/>
          </a:prstGeom>
          <a:noFill/>
          <a:ln/>
        </p:spPr>
        <p:txBody>
          <a:bodyPr wrap="square" lIns="0" tIns="0" rIns="0" bIns="0" rtlCol="0" anchor="t">
            <a:normAutofit/>
          </a:bodyPr>
          <a:lstStyle/>
          <a:p>
            <a:pPr algn="ctr" indent="0" marL="0">
              <a:buNone/>
            </a:pPr>
            <a:r>
              <a:rPr lang="en-US" sz="2300" b="1" dirty="0">
                <a:solidFill>
                  <a:srgbClr val="FFFFFF"/>
                </a:solidFill>
                <a:latin typeface="Arial" pitchFamily="34" charset="0"/>
                <a:ea typeface="Arial" pitchFamily="34" charset="-122"/>
                <a:cs typeface="Arial" pitchFamily="34" charset="-120"/>
              </a:rPr>
              <a:t>Vehicle</a:t>
            </a:r>
            <a:endParaRPr lang="en-US" sz="2300" dirty="0"/>
          </a:p>
          <a:p>
            <a:pPr algn="ctr" indent="0" marL="0">
              <a:buNone/>
            </a:pPr>
            <a:r>
              <a:rPr lang="en-US" sz="2300" b="1" dirty="0">
                <a:solidFill>
                  <a:srgbClr val="FFFFFF"/>
                </a:solidFill>
                <a:latin typeface="Arial" pitchFamily="34" charset="0"/>
                <a:ea typeface="Arial" pitchFamily="34" charset="-122"/>
                <a:cs typeface="Arial" pitchFamily="34" charset="-120"/>
              </a:rPr>
              <a:t>model</a:t>
            </a:r>
            <a:endParaRPr lang="en-US" sz="2300" dirty="0"/>
          </a:p>
        </p:txBody>
      </p:sp>
      <p:sp>
        <p:nvSpPr>
          <p:cNvPr id="26" name="Text 24"/>
          <p:cNvSpPr txBox="1"/>
          <p:nvPr/>
        </p:nvSpPr>
        <p:spPr>
          <a:xfrm>
            <a:off x="9180576" y="2834640"/>
            <a:ext cx="1481328" cy="548640"/>
          </a:xfrm>
          <a:prstGeom prst="rect">
            <a:avLst/>
          </a:prstGeom>
          <a:noFill/>
          <a:ln/>
        </p:spPr>
        <p:txBody>
          <a:bodyPr wrap="square" lIns="0" tIns="0" rIns="0" bIns="0" rtlCol="0" anchor="t">
            <a:normAutofit/>
          </a:bodyPr>
          <a:lstStyle/>
          <a:p>
            <a:pPr algn="ctr" indent="0" marL="0">
              <a:buNone/>
            </a:pPr>
            <a:r>
              <a:rPr lang="en-US" sz="2200" b="1" dirty="0">
                <a:solidFill>
                  <a:srgbClr val="1A7750"/>
                </a:solidFill>
                <a:latin typeface="Arial" pitchFamily="34" charset="0"/>
                <a:ea typeface="Arial" pitchFamily="34" charset="-122"/>
                <a:cs typeface="Arial" pitchFamily="34" charset="-120"/>
              </a:rPr>
              <a:t>Two-layer</a:t>
            </a:r>
            <a:endParaRPr lang="en-US" sz="2200" dirty="0"/>
          </a:p>
          <a:p>
            <a:pPr algn="ctr" indent="0" marL="0">
              <a:buNone/>
            </a:pPr>
            <a:r>
              <a:rPr lang="en-US" sz="2200" b="1" dirty="0">
                <a:solidFill>
                  <a:srgbClr val="1A7750"/>
                </a:solidFill>
                <a:latin typeface="Arial" pitchFamily="34" charset="0"/>
                <a:ea typeface="Arial" pitchFamily="34" charset="-122"/>
                <a:cs typeface="Arial" pitchFamily="34" charset="-120"/>
              </a:rPr>
              <a:t>estimator</a:t>
            </a:r>
            <a:endParaRPr lang="en-US" sz="2200" dirty="0"/>
          </a:p>
        </p:txBody>
      </p:sp>
      <p:sp>
        <p:nvSpPr>
          <p:cNvPr id="27" name="Text 25"/>
          <p:cNvSpPr txBox="1"/>
          <p:nvPr/>
        </p:nvSpPr>
        <p:spPr>
          <a:xfrm>
            <a:off x="4617720" y="4892040"/>
            <a:ext cx="6327648" cy="320040"/>
          </a:xfrm>
          <a:prstGeom prst="rect">
            <a:avLst/>
          </a:prstGeom>
          <a:noFill/>
          <a:ln/>
        </p:spPr>
        <p:txBody>
          <a:bodyPr wrap="square" lIns="0" tIns="0" rIns="0" bIns="0" rtlCol="0" anchor="t">
            <a:normAutofit/>
          </a:bodyPr>
          <a:lstStyle/>
          <a:p>
            <a:pPr algn="ctr" indent="0" marL="0">
              <a:buNone/>
            </a:pPr>
            <a:r>
              <a:rPr lang="en-US" sz="2100" b="1" dirty="0">
                <a:solidFill>
                  <a:srgbClr val="1677C8"/>
                </a:solidFill>
                <a:latin typeface="Arial" pitchFamily="34" charset="0"/>
                <a:ea typeface="Arial" pitchFamily="34" charset="-122"/>
                <a:cs typeface="Arial" pitchFamily="34" charset="-120"/>
              </a:rPr>
              <a:t>Reconstruct: unmeasured lateral velocity vy and tire-force residuals fyf, fyr.</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VEHICLE STUDY · RESULTS</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10</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Layer 2 supports close tracking and smooth control</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The Layer 2 estimates provide useful feedback for the trajectory-tracking controller in the simulated maneuver.</a:t>
            </a:r>
            <a:endParaRPr lang="en-US" sz="1550" dirty="0"/>
          </a:p>
        </p:txBody>
      </p:sp>
      <p:sp>
        <p:nvSpPr>
          <p:cNvPr id="8" name="Shape 6"/>
          <p:cNvSpPr/>
          <p:nvPr/>
        </p:nvSpPr>
        <p:spPr>
          <a:xfrm>
            <a:off x="502920" y="1572768"/>
            <a:ext cx="7543800" cy="4663440"/>
          </a:xfrm>
          <a:prstGeom prst="rect">
            <a:avLst/>
          </a:prstGeom>
          <a:solidFill>
            <a:srgbClr val="F3F5F7"/>
          </a:solidFill>
          <a:ln w="10160">
            <a:solidFill>
              <a:srgbClr val="E8EDF1"/>
            </a:solidFill>
            <a:prstDash val="solid"/>
          </a:ln>
        </p:spPr>
      </p:sp>
      <p:pic>
        <p:nvPicPr>
          <p:cNvPr id="9" name="Image 0" descr="Vehicle trajectory, tracking error, steering angle, and throttle input">    </p:cNvPr>
          <p:cNvPicPr>
            <a:picLocks noChangeAspect="1"/>
          </p:cNvPicPr>
          <p:nvPr/>
        </p:nvPicPr>
        <p:blipFill>
          <a:blip r:embed="rId1"/>
          <a:stretch>
            <a:fillRect/>
          </a:stretch>
        </p:blipFill>
        <p:spPr>
          <a:xfrm>
            <a:off x="621792" y="1682496"/>
            <a:ext cx="7296912" cy="4379976"/>
          </a:xfrm>
          <a:prstGeom prst="rect">
            <a:avLst/>
          </a:prstGeom>
        </p:spPr>
      </p:pic>
      <p:sp>
        <p:nvSpPr>
          <p:cNvPr id="10" name="Shape 7"/>
          <p:cNvSpPr/>
          <p:nvPr/>
        </p:nvSpPr>
        <p:spPr>
          <a:xfrm>
            <a:off x="8394192" y="1755648"/>
            <a:ext cx="3182112" cy="1417320"/>
          </a:xfrm>
          <a:prstGeom prst="rect">
            <a:avLst/>
          </a:prstGeom>
          <a:solidFill>
            <a:srgbClr val="1677C8"/>
          </a:solidFill>
          <a:ln w="12700">
            <a:solidFill>
              <a:srgbClr val="1677C8">
                <a:alpha val="0"/>
              </a:srgbClr>
            </a:solidFill>
            <a:prstDash val="solid"/>
          </a:ln>
        </p:spPr>
      </p:sp>
      <p:sp>
        <p:nvSpPr>
          <p:cNvPr id="11" name="Text 8"/>
          <p:cNvSpPr txBox="1"/>
          <p:nvPr/>
        </p:nvSpPr>
        <p:spPr>
          <a:xfrm>
            <a:off x="8668512" y="2066544"/>
            <a:ext cx="2633472" cy="393192"/>
          </a:xfrm>
          <a:prstGeom prst="rect">
            <a:avLst/>
          </a:prstGeom>
          <a:noFill/>
          <a:ln/>
        </p:spPr>
        <p:txBody>
          <a:bodyPr wrap="square" lIns="0" tIns="0" rIns="0" bIns="0" rtlCol="0" anchor="t">
            <a:normAutofit/>
          </a:bodyPr>
          <a:lstStyle/>
          <a:p>
            <a:pPr algn="ctr" indent="0" marL="0">
              <a:buNone/>
            </a:pPr>
            <a:r>
              <a:rPr lang="en-US" sz="3100" b="1" dirty="0">
                <a:solidFill>
                  <a:srgbClr val="FFFFFF"/>
                </a:solidFill>
                <a:latin typeface="Arial" pitchFamily="34" charset="0"/>
                <a:ea typeface="Arial" pitchFamily="34" charset="-122"/>
                <a:cs typeface="Arial" pitchFamily="34" charset="-120"/>
              </a:rPr>
              <a:t>0.44 cm</a:t>
            </a:r>
            <a:endParaRPr lang="en-US" sz="3100" dirty="0"/>
          </a:p>
        </p:txBody>
      </p:sp>
      <p:sp>
        <p:nvSpPr>
          <p:cNvPr id="12" name="Text 9"/>
          <p:cNvSpPr txBox="1"/>
          <p:nvPr/>
        </p:nvSpPr>
        <p:spPr>
          <a:xfrm>
            <a:off x="8668512" y="2578608"/>
            <a:ext cx="2633472" cy="201168"/>
          </a:xfrm>
          <a:prstGeom prst="rect">
            <a:avLst/>
          </a:prstGeom>
          <a:noFill/>
          <a:ln/>
        </p:spPr>
        <p:txBody>
          <a:bodyPr wrap="square" lIns="0" tIns="0" rIns="0" bIns="0" rtlCol="0" anchor="t">
            <a:normAutofit/>
          </a:bodyPr>
          <a:lstStyle/>
          <a:p>
            <a:pPr algn="ctr" indent="0" marL="0">
              <a:buNone/>
            </a:pPr>
            <a:r>
              <a:rPr lang="en-US" sz="1500" dirty="0">
                <a:solidFill>
                  <a:srgbClr val="FFFFFF"/>
                </a:solidFill>
                <a:latin typeface="Arial" pitchFamily="34" charset="0"/>
                <a:ea typeface="Arial" pitchFamily="34" charset="-122"/>
                <a:cs typeface="Arial" pitchFamily="34" charset="-120"/>
              </a:rPr>
              <a:t>mean position error</a:t>
            </a:r>
            <a:endParaRPr lang="en-US" sz="1500" dirty="0"/>
          </a:p>
        </p:txBody>
      </p:sp>
      <p:sp>
        <p:nvSpPr>
          <p:cNvPr id="13" name="Shape 10"/>
          <p:cNvSpPr/>
          <p:nvPr/>
        </p:nvSpPr>
        <p:spPr>
          <a:xfrm>
            <a:off x="8522208" y="3758184"/>
            <a:ext cx="73152" cy="73152"/>
          </a:xfrm>
          <a:prstGeom prst="rect">
            <a:avLst/>
          </a:prstGeom>
          <a:solidFill>
            <a:srgbClr val="1677C8"/>
          </a:solidFill>
          <a:ln w="12700">
            <a:solidFill>
              <a:srgbClr val="1677C8">
                <a:alpha val="0"/>
              </a:srgbClr>
            </a:solidFill>
            <a:prstDash val="solid"/>
          </a:ln>
        </p:spPr>
      </p:sp>
      <p:sp>
        <p:nvSpPr>
          <p:cNvPr id="14" name="Text 11"/>
          <p:cNvSpPr txBox="1"/>
          <p:nvPr/>
        </p:nvSpPr>
        <p:spPr>
          <a:xfrm>
            <a:off x="8705088" y="3657600"/>
            <a:ext cx="2724912" cy="621792"/>
          </a:xfrm>
          <a:prstGeom prst="rect">
            <a:avLst/>
          </a:prstGeom>
          <a:noFill/>
          <a:ln/>
        </p:spPr>
        <p:txBody>
          <a:bodyPr wrap="square" lIns="0" tIns="0" rIns="0" bIns="0" rtlCol="0" anchor="t">
            <a:normAutofit/>
          </a:bodyPr>
          <a:lstStyle/>
          <a:p>
            <a:pPr algn="l" indent="0" marL="0">
              <a:buNone/>
            </a:pPr>
            <a:r>
              <a:rPr lang="en-US" sz="1760" dirty="0">
                <a:solidFill>
                  <a:srgbClr val="111827"/>
                </a:solidFill>
                <a:latin typeface="Arial" pitchFamily="34" charset="0"/>
                <a:ea typeface="Arial" pitchFamily="34" charset="-122"/>
                <a:cs typeface="Arial" pitchFamily="34" charset="-120"/>
              </a:rPr>
              <a:t>Estimated trajectory follows GPS closely.</a:t>
            </a:r>
            <a:endParaRPr lang="en-US" sz="1760" dirty="0"/>
          </a:p>
        </p:txBody>
      </p:sp>
      <p:sp>
        <p:nvSpPr>
          <p:cNvPr id="15" name="Shape 12"/>
          <p:cNvSpPr/>
          <p:nvPr/>
        </p:nvSpPr>
        <p:spPr>
          <a:xfrm>
            <a:off x="8522208" y="4453128"/>
            <a:ext cx="73152" cy="73152"/>
          </a:xfrm>
          <a:prstGeom prst="rect">
            <a:avLst/>
          </a:prstGeom>
          <a:solidFill>
            <a:srgbClr val="1677C8"/>
          </a:solidFill>
          <a:ln w="12700">
            <a:solidFill>
              <a:srgbClr val="1677C8">
                <a:alpha val="0"/>
              </a:srgbClr>
            </a:solidFill>
            <a:prstDash val="solid"/>
          </a:ln>
        </p:spPr>
      </p:sp>
      <p:sp>
        <p:nvSpPr>
          <p:cNvPr id="16" name="Text 13"/>
          <p:cNvSpPr txBox="1"/>
          <p:nvPr/>
        </p:nvSpPr>
        <p:spPr>
          <a:xfrm>
            <a:off x="8705088" y="4352544"/>
            <a:ext cx="2724912" cy="621792"/>
          </a:xfrm>
          <a:prstGeom prst="rect">
            <a:avLst/>
          </a:prstGeom>
          <a:noFill/>
          <a:ln/>
        </p:spPr>
        <p:txBody>
          <a:bodyPr wrap="square" lIns="0" tIns="0" rIns="0" bIns="0" rtlCol="0" anchor="t">
            <a:normAutofit/>
          </a:bodyPr>
          <a:lstStyle/>
          <a:p>
            <a:pPr algn="l" indent="0" marL="0">
              <a:buNone/>
            </a:pPr>
            <a:r>
              <a:rPr lang="en-US" sz="1760" dirty="0">
                <a:solidFill>
                  <a:srgbClr val="111827"/>
                </a:solidFill>
                <a:latin typeface="Arial" pitchFamily="34" charset="0"/>
                <a:ea typeface="Arial" pitchFamily="34" charset="-122"/>
                <a:cs typeface="Arial" pitchFamily="34" charset="-120"/>
              </a:rPr>
              <a:t>Steering and throttle profiles remain smooth and physically consistent.</a:t>
            </a:r>
            <a:endParaRPr lang="en-US" sz="1760" dirty="0"/>
          </a:p>
        </p:txBody>
      </p:sp>
      <p:sp>
        <p:nvSpPr>
          <p:cNvPr id="17" name="Text 14"/>
          <p:cNvSpPr txBox="1"/>
          <p:nvPr/>
        </p:nvSpPr>
        <p:spPr>
          <a:xfrm>
            <a:off x="8503920" y="5632704"/>
            <a:ext cx="2889504" cy="329184"/>
          </a:xfrm>
          <a:prstGeom prst="rect">
            <a:avLst/>
          </a:prstGeom>
          <a:noFill/>
          <a:ln/>
        </p:spPr>
        <p:txBody>
          <a:bodyPr wrap="square" lIns="0" tIns="0" rIns="0" bIns="0" rtlCol="0" anchor="t">
            <a:normAutofit/>
          </a:bodyPr>
          <a:lstStyle/>
          <a:p>
            <a:pPr algn="ctr" indent="0" marL="0">
              <a:buNone/>
            </a:pPr>
            <a:r>
              <a:rPr lang="en-US" sz="1370" i="1" dirty="0">
                <a:solidFill>
                  <a:srgbClr val="52606D"/>
                </a:solidFill>
                <a:latin typeface="Arial" pitchFamily="34" charset="0"/>
                <a:ea typeface="Arial" pitchFamily="34" charset="-122"/>
                <a:cs typeface="Arial" pitchFamily="34" charset="-120"/>
              </a:rPr>
              <a:t>The position-error metric is reported directly in the simulation figure.</a:t>
            </a:r>
            <a:endParaRPr lang="en-US" sz="13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VEHICLE STUDY · RESULTS</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11</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The neural layer preserves state-estimation fidelity</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Measured states are recovered closely, while the unmeasured lateral velocity is reconstructed through vehicle-dynamics coupling.</a:t>
            </a:r>
            <a:endParaRPr lang="en-US" sz="1550" dirty="0"/>
          </a:p>
        </p:txBody>
      </p:sp>
      <p:sp>
        <p:nvSpPr>
          <p:cNvPr id="8" name="Shape 6"/>
          <p:cNvSpPr/>
          <p:nvPr/>
        </p:nvSpPr>
        <p:spPr>
          <a:xfrm>
            <a:off x="502920" y="1572768"/>
            <a:ext cx="7543800" cy="4663440"/>
          </a:xfrm>
          <a:prstGeom prst="rect">
            <a:avLst/>
          </a:prstGeom>
          <a:solidFill>
            <a:srgbClr val="F3F5F7"/>
          </a:solidFill>
          <a:ln w="10160">
            <a:solidFill>
              <a:srgbClr val="E8EDF1"/>
            </a:solidFill>
            <a:prstDash val="solid"/>
          </a:ln>
        </p:spPr>
      </p:sp>
      <p:pic>
        <p:nvPicPr>
          <p:cNvPr id="9" name="Image 0" descr="State estimation plots for longitudinal and lateral velocity, yaw rate, and yaw angle">    </p:cNvPr>
          <p:cNvPicPr>
            <a:picLocks noChangeAspect="1"/>
          </p:cNvPicPr>
          <p:nvPr/>
        </p:nvPicPr>
        <p:blipFill>
          <a:blip r:embed="rId1"/>
          <a:stretch>
            <a:fillRect/>
          </a:stretch>
        </p:blipFill>
        <p:spPr>
          <a:xfrm>
            <a:off x="621792" y="1682496"/>
            <a:ext cx="7296912" cy="4379976"/>
          </a:xfrm>
          <a:prstGeom prst="rect">
            <a:avLst/>
          </a:prstGeom>
        </p:spPr>
      </p:pic>
      <p:sp>
        <p:nvSpPr>
          <p:cNvPr id="10" name="Shape 7"/>
          <p:cNvSpPr/>
          <p:nvPr/>
        </p:nvSpPr>
        <p:spPr>
          <a:xfrm>
            <a:off x="8339328" y="1828800"/>
            <a:ext cx="3246120" cy="1069848"/>
          </a:xfrm>
          <a:prstGeom prst="rect">
            <a:avLst/>
          </a:prstGeom>
          <a:solidFill>
            <a:srgbClr val="EAF7F0"/>
          </a:solidFill>
          <a:ln w="12700">
            <a:solidFill>
              <a:srgbClr val="EAF7F0">
                <a:alpha val="0"/>
              </a:srgbClr>
            </a:solidFill>
            <a:prstDash val="solid"/>
          </a:ln>
        </p:spPr>
      </p:sp>
      <p:sp>
        <p:nvSpPr>
          <p:cNvPr id="11" name="Text 8"/>
          <p:cNvSpPr txBox="1"/>
          <p:nvPr/>
        </p:nvSpPr>
        <p:spPr>
          <a:xfrm>
            <a:off x="8558784" y="2093976"/>
            <a:ext cx="2788920" cy="228600"/>
          </a:xfrm>
          <a:prstGeom prst="rect">
            <a:avLst/>
          </a:prstGeom>
          <a:noFill/>
          <a:ln/>
        </p:spPr>
        <p:txBody>
          <a:bodyPr wrap="square" lIns="0" tIns="0" rIns="0" bIns="0" rtlCol="0" anchor="t">
            <a:normAutofit/>
          </a:bodyPr>
          <a:lstStyle/>
          <a:p>
            <a:pPr algn="ctr" indent="0" marL="0">
              <a:buNone/>
            </a:pPr>
            <a:r>
              <a:rPr lang="en-US" sz="2150" b="1" dirty="0">
                <a:solidFill>
                  <a:srgbClr val="1A7750"/>
                </a:solidFill>
                <a:latin typeface="Arial" pitchFamily="34" charset="0"/>
                <a:ea typeface="Arial" pitchFamily="34" charset="-122"/>
                <a:cs typeface="Arial" pitchFamily="34" charset="-120"/>
              </a:rPr>
              <a:t>Measured: vx, ψ, r</a:t>
            </a:r>
            <a:endParaRPr lang="en-US" sz="2150" dirty="0"/>
          </a:p>
        </p:txBody>
      </p:sp>
      <p:sp>
        <p:nvSpPr>
          <p:cNvPr id="12" name="Shape 9"/>
          <p:cNvSpPr/>
          <p:nvPr/>
        </p:nvSpPr>
        <p:spPr>
          <a:xfrm>
            <a:off x="8339328" y="3182112"/>
            <a:ext cx="3246120" cy="1069848"/>
          </a:xfrm>
          <a:prstGeom prst="rect">
            <a:avLst/>
          </a:prstGeom>
          <a:solidFill>
            <a:srgbClr val="DCEEF9"/>
          </a:solidFill>
          <a:ln w="12700">
            <a:solidFill>
              <a:srgbClr val="DCEEF9">
                <a:alpha val="0"/>
              </a:srgbClr>
            </a:solidFill>
            <a:prstDash val="solid"/>
          </a:ln>
        </p:spPr>
      </p:sp>
      <p:sp>
        <p:nvSpPr>
          <p:cNvPr id="13" name="Text 10"/>
          <p:cNvSpPr txBox="1"/>
          <p:nvPr/>
        </p:nvSpPr>
        <p:spPr>
          <a:xfrm>
            <a:off x="8558784" y="3456432"/>
            <a:ext cx="2788920" cy="228600"/>
          </a:xfrm>
          <a:prstGeom prst="rect">
            <a:avLst/>
          </a:prstGeom>
          <a:noFill/>
          <a:ln/>
        </p:spPr>
        <p:txBody>
          <a:bodyPr wrap="square" lIns="0" tIns="0" rIns="0" bIns="0" rtlCol="0" anchor="t">
            <a:normAutofit/>
          </a:bodyPr>
          <a:lstStyle/>
          <a:p>
            <a:pPr algn="ctr" indent="0" marL="0">
              <a:buNone/>
            </a:pPr>
            <a:r>
              <a:rPr lang="en-US" sz="2150" b="1" dirty="0">
                <a:solidFill>
                  <a:srgbClr val="105B94"/>
                </a:solidFill>
                <a:latin typeface="Arial" pitchFamily="34" charset="0"/>
                <a:ea typeface="Arial" pitchFamily="34" charset="-122"/>
                <a:cs typeface="Arial" pitchFamily="34" charset="-120"/>
              </a:rPr>
              <a:t>Reconstructed: vy</a:t>
            </a:r>
            <a:endParaRPr lang="en-US" sz="2150" dirty="0"/>
          </a:p>
        </p:txBody>
      </p:sp>
      <p:sp>
        <p:nvSpPr>
          <p:cNvPr id="14" name="Text 11"/>
          <p:cNvSpPr txBox="1"/>
          <p:nvPr/>
        </p:nvSpPr>
        <p:spPr>
          <a:xfrm>
            <a:off x="8412480" y="4800600"/>
            <a:ext cx="3063240" cy="804672"/>
          </a:xfrm>
          <a:prstGeom prst="rect">
            <a:avLst/>
          </a:prstGeom>
          <a:noFill/>
          <a:ln/>
        </p:spPr>
        <p:txBody>
          <a:bodyPr wrap="square" lIns="0" tIns="0" rIns="0" bIns="0" rtlCol="0" anchor="ctr">
            <a:normAutofit/>
          </a:bodyPr>
          <a:lstStyle/>
          <a:p>
            <a:pPr algn="ctr" indent="0" marL="0">
              <a:buNone/>
            </a:pPr>
            <a:r>
              <a:rPr lang="en-US" sz="1740" dirty="0">
                <a:solidFill>
                  <a:srgbClr val="111827"/>
                </a:solidFill>
                <a:latin typeface="Arial" pitchFamily="34" charset="0"/>
                <a:ea typeface="Arial" pitchFamily="34" charset="-122"/>
                <a:cs typeface="Arial" pitchFamily="34" charset="-120"/>
              </a:rPr>
              <a:t>Layer 1 and neural estimates remain close to the true trajectories; the difficult unmeasured channel is recovered via the model coupling.</a:t>
            </a:r>
            <a:endParaRPr lang="en-US" sz="17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VEHICLE STUDY · RESULTS</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12</a:t>
            </a:r>
            <a:endParaRPr lang="en-US" sz="1000" dirty="0"/>
          </a:p>
        </p:txBody>
      </p:sp>
      <p:sp>
        <p:nvSpPr>
          <p:cNvPr id="6" name="Text 4"/>
          <p:cNvSpPr txBox="1"/>
          <p:nvPr/>
        </p:nvSpPr>
        <p:spPr>
          <a:xfrm>
            <a:off x="502920" y="640080"/>
            <a:ext cx="11109960" cy="475488"/>
          </a:xfrm>
          <a:prstGeom prst="rect">
            <a:avLst/>
          </a:prstGeom>
          <a:noFill/>
          <a:ln/>
        </p:spPr>
        <p:txBody>
          <a:bodyPr wrap="square" lIns="0" tIns="0" rIns="0" bIns="0" rtlCol="0" anchor="t">
            <a:normAutofit/>
          </a:bodyPr>
          <a:lstStyle/>
          <a:p>
            <a:pPr algn="l" indent="0" marL="0">
              <a:buNone/>
            </a:pPr>
            <a:r>
              <a:rPr lang="en-US" sz="3200" b="1" dirty="0">
                <a:solidFill>
                  <a:srgbClr val="111827"/>
                </a:solidFill>
                <a:latin typeface="Arial" pitchFamily="34" charset="0"/>
                <a:ea typeface="Arial" pitchFamily="34" charset="-122"/>
                <a:cs typeface="Arial" pitchFamily="34" charset="-120"/>
              </a:rPr>
              <a:t>Learning improves tire-force residual reconstruction</a:t>
            </a:r>
            <a:endParaRPr lang="en-US" sz="3200" dirty="0"/>
          </a:p>
        </p:txBody>
      </p:sp>
      <p:sp>
        <p:nvSpPr>
          <p:cNvPr id="7" name="Text 5"/>
          <p:cNvSpPr txBox="1"/>
          <p:nvPr/>
        </p:nvSpPr>
        <p:spPr>
          <a:xfrm>
            <a:off x="502920" y="1124712"/>
            <a:ext cx="10972800" cy="27432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Both layers are bounded; Layer 2 converges faster and tracks the simulated residuals more closely.</a:t>
            </a:r>
            <a:endParaRPr lang="en-US" sz="1550" dirty="0"/>
          </a:p>
        </p:txBody>
      </p:sp>
      <p:sp>
        <p:nvSpPr>
          <p:cNvPr id="8" name="Shape 6"/>
          <p:cNvSpPr/>
          <p:nvPr/>
        </p:nvSpPr>
        <p:spPr>
          <a:xfrm>
            <a:off x="502920" y="1572768"/>
            <a:ext cx="7543800" cy="4663440"/>
          </a:xfrm>
          <a:prstGeom prst="rect">
            <a:avLst/>
          </a:prstGeom>
          <a:solidFill>
            <a:srgbClr val="F3F5F7"/>
          </a:solidFill>
          <a:ln w="10160">
            <a:solidFill>
              <a:srgbClr val="E8EDF1"/>
            </a:solidFill>
            <a:prstDash val="solid"/>
          </a:ln>
        </p:spPr>
      </p:sp>
      <p:pic>
        <p:nvPicPr>
          <p:cNvPr id="9" name="Image 0" descr="Rear and front tire residual and slip angle estimation plots">    </p:cNvPr>
          <p:cNvPicPr>
            <a:picLocks noChangeAspect="1"/>
          </p:cNvPicPr>
          <p:nvPr/>
        </p:nvPicPr>
        <p:blipFill>
          <a:blip r:embed="rId1"/>
          <a:stretch>
            <a:fillRect/>
          </a:stretch>
        </p:blipFill>
        <p:spPr>
          <a:xfrm>
            <a:off x="621792" y="1682496"/>
            <a:ext cx="7296912" cy="4379976"/>
          </a:xfrm>
          <a:prstGeom prst="rect">
            <a:avLst/>
          </a:prstGeom>
        </p:spPr>
      </p:pic>
      <p:sp>
        <p:nvSpPr>
          <p:cNvPr id="10" name="Shape 7"/>
          <p:cNvSpPr/>
          <p:nvPr/>
        </p:nvSpPr>
        <p:spPr>
          <a:xfrm>
            <a:off x="8339328" y="1792224"/>
            <a:ext cx="3246120" cy="1042416"/>
          </a:xfrm>
          <a:prstGeom prst="rect">
            <a:avLst/>
          </a:prstGeom>
          <a:solidFill>
            <a:srgbClr val="9B6CC1"/>
          </a:solidFill>
          <a:ln w="12700">
            <a:solidFill>
              <a:srgbClr val="9B6CC1">
                <a:alpha val="0"/>
              </a:srgbClr>
            </a:solidFill>
            <a:prstDash val="solid"/>
          </a:ln>
        </p:spPr>
      </p:sp>
      <p:sp>
        <p:nvSpPr>
          <p:cNvPr id="11" name="Text 8"/>
          <p:cNvSpPr txBox="1"/>
          <p:nvPr/>
        </p:nvSpPr>
        <p:spPr>
          <a:xfrm>
            <a:off x="8577072" y="2075688"/>
            <a:ext cx="2770632" cy="219456"/>
          </a:xfrm>
          <a:prstGeom prst="rect">
            <a:avLst/>
          </a:prstGeom>
          <a:noFill/>
          <a:ln/>
        </p:spPr>
        <p:txBody>
          <a:bodyPr wrap="square" lIns="0" tIns="0" rIns="0" bIns="0" rtlCol="0" anchor="t">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Layer 1 · UIO</a:t>
            </a:r>
            <a:endParaRPr lang="en-US" sz="2200" dirty="0"/>
          </a:p>
        </p:txBody>
      </p:sp>
      <p:sp>
        <p:nvSpPr>
          <p:cNvPr id="12" name="Text 9"/>
          <p:cNvSpPr txBox="1"/>
          <p:nvPr/>
        </p:nvSpPr>
        <p:spPr>
          <a:xfrm>
            <a:off x="8577072" y="2386584"/>
            <a:ext cx="2770632" cy="182880"/>
          </a:xfrm>
          <a:prstGeom prst="rect">
            <a:avLst/>
          </a:prstGeom>
          <a:noFill/>
          <a:ln/>
        </p:spPr>
        <p:txBody>
          <a:bodyPr wrap="square" lIns="0" tIns="0" rIns="0" bIns="0" rtlCol="0" anchor="t">
            <a:normAutofit/>
          </a:bodyPr>
          <a:lstStyle/>
          <a:p>
            <a:pPr algn="ctr" indent="0" marL="0">
              <a:buNone/>
            </a:pPr>
            <a:r>
              <a:rPr lang="en-US" sz="1450" dirty="0">
                <a:solidFill>
                  <a:srgbClr val="FFFFFF"/>
                </a:solidFill>
                <a:latin typeface="Arial" pitchFamily="34" charset="0"/>
                <a:ea typeface="Arial" pitchFamily="34" charset="-122"/>
                <a:cs typeface="Arial" pitchFamily="34" charset="-120"/>
              </a:rPr>
              <a:t>bounded physics reference</a:t>
            </a:r>
            <a:endParaRPr lang="en-US" sz="1450" dirty="0"/>
          </a:p>
        </p:txBody>
      </p:sp>
      <p:sp>
        <p:nvSpPr>
          <p:cNvPr id="13" name="Shape 10"/>
          <p:cNvSpPr/>
          <p:nvPr/>
        </p:nvSpPr>
        <p:spPr>
          <a:xfrm>
            <a:off x="8339328" y="3127248"/>
            <a:ext cx="3246120" cy="1042416"/>
          </a:xfrm>
          <a:prstGeom prst="rect">
            <a:avLst/>
          </a:prstGeom>
          <a:solidFill>
            <a:srgbClr val="1677C8"/>
          </a:solidFill>
          <a:ln w="12700">
            <a:solidFill>
              <a:srgbClr val="1677C8">
                <a:alpha val="0"/>
              </a:srgbClr>
            </a:solidFill>
            <a:prstDash val="solid"/>
          </a:ln>
        </p:spPr>
      </p:sp>
      <p:sp>
        <p:nvSpPr>
          <p:cNvPr id="14" name="Text 11"/>
          <p:cNvSpPr txBox="1"/>
          <p:nvPr/>
        </p:nvSpPr>
        <p:spPr>
          <a:xfrm>
            <a:off x="8577072" y="3410712"/>
            <a:ext cx="2770632" cy="219456"/>
          </a:xfrm>
          <a:prstGeom prst="rect">
            <a:avLst/>
          </a:prstGeom>
          <a:noFill/>
          <a:ln/>
        </p:spPr>
        <p:txBody>
          <a:bodyPr wrap="square" lIns="0" tIns="0" rIns="0" bIns="0" rtlCol="0" anchor="t">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Layer 2 · Neural</a:t>
            </a:r>
            <a:endParaRPr lang="en-US" sz="2200" dirty="0"/>
          </a:p>
        </p:txBody>
      </p:sp>
      <p:sp>
        <p:nvSpPr>
          <p:cNvPr id="15" name="Text 12"/>
          <p:cNvSpPr txBox="1"/>
          <p:nvPr/>
        </p:nvSpPr>
        <p:spPr>
          <a:xfrm>
            <a:off x="8577072" y="3721608"/>
            <a:ext cx="2770632" cy="182880"/>
          </a:xfrm>
          <a:prstGeom prst="rect">
            <a:avLst/>
          </a:prstGeom>
          <a:noFill/>
          <a:ln/>
        </p:spPr>
        <p:txBody>
          <a:bodyPr wrap="square" lIns="0" tIns="0" rIns="0" bIns="0" rtlCol="0" anchor="t">
            <a:normAutofit/>
          </a:bodyPr>
          <a:lstStyle/>
          <a:p>
            <a:pPr algn="ctr" indent="0" marL="0">
              <a:buNone/>
            </a:pPr>
            <a:r>
              <a:rPr lang="en-US" sz="1450" dirty="0">
                <a:solidFill>
                  <a:srgbClr val="FFFFFF"/>
                </a:solidFill>
                <a:latin typeface="Arial" pitchFamily="34" charset="0"/>
                <a:ea typeface="Arial" pitchFamily="34" charset="-122"/>
                <a:cs typeface="Arial" pitchFamily="34" charset="-120"/>
              </a:rPr>
              <a:t>faster convergence and closer tracking</a:t>
            </a:r>
            <a:endParaRPr lang="en-US" sz="1450" dirty="0"/>
          </a:p>
        </p:txBody>
      </p:sp>
      <p:sp>
        <p:nvSpPr>
          <p:cNvPr id="16" name="Text 13"/>
          <p:cNvSpPr txBox="1"/>
          <p:nvPr/>
        </p:nvSpPr>
        <p:spPr>
          <a:xfrm>
            <a:off x="8394192" y="4736592"/>
            <a:ext cx="3054096" cy="822960"/>
          </a:xfrm>
          <a:prstGeom prst="rect">
            <a:avLst/>
          </a:prstGeom>
          <a:noFill/>
          <a:ln/>
        </p:spPr>
        <p:txBody>
          <a:bodyPr wrap="square" lIns="0" tIns="0" rIns="0" bIns="0" rtlCol="0" anchor="ctr">
            <a:normAutofit/>
          </a:bodyPr>
          <a:lstStyle/>
          <a:p>
            <a:pPr algn="ctr" indent="0" marL="0">
              <a:buNone/>
            </a:pPr>
            <a:r>
              <a:rPr lang="en-US" sz="1720" b="1" dirty="0">
                <a:solidFill>
                  <a:srgbClr val="111827"/>
                </a:solidFill>
                <a:latin typeface="Arial" pitchFamily="34" charset="0"/>
                <a:ea typeface="Arial" pitchFamily="34" charset="-122"/>
                <a:cs typeface="Arial" pitchFamily="34" charset="-120"/>
              </a:rPr>
              <a:t>The learned map refines an instantaneous residual estimate into a predictive state-dependent correction.</a:t>
            </a:r>
            <a:endParaRPr lang="en-US" sz="17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01168"/>
            <a:ext cx="5120640" cy="201168"/>
          </a:xfrm>
          <a:prstGeom prst="rect">
            <a:avLst/>
          </a:prstGeom>
          <a:noFill/>
          <a:ln/>
        </p:spPr>
        <p:txBody>
          <a:bodyPr wrap="square" lIns="0" tIns="0" rIns="0" bIns="0" rtlCol="0" anchor="t">
            <a:normAutofit/>
          </a:bodyPr>
          <a:lstStyle/>
          <a:p>
            <a:pPr algn="l" indent="0" marL="0">
              <a:buNone/>
            </a:pPr>
            <a:r>
              <a:rPr lang="en-US" sz="950" b="1" dirty="0">
                <a:solidFill>
                  <a:srgbClr val="52606D"/>
                </a:solidFill>
                <a:latin typeface="Arial" pitchFamily="34" charset="0"/>
                <a:ea typeface="Arial" pitchFamily="34" charset="-122"/>
                <a:cs typeface="Arial" pitchFamily="34" charset="-120"/>
              </a:rPr>
              <a:t>LEARNING WITH UNKNOWN INPUT OBSERVERS</a:t>
            </a:r>
            <a:endParaRPr lang="en-US" sz="950" dirty="0"/>
          </a:p>
        </p:txBody>
      </p:sp>
      <p:sp>
        <p:nvSpPr>
          <p:cNvPr id="3" name="Text 1"/>
          <p:cNvSpPr txBox="1"/>
          <p:nvPr/>
        </p:nvSpPr>
        <p:spPr>
          <a:xfrm>
            <a:off x="7543800" y="201168"/>
            <a:ext cx="3703320" cy="201168"/>
          </a:xfrm>
          <a:prstGeom prst="rect">
            <a:avLst/>
          </a:prstGeom>
          <a:noFill/>
          <a:ln/>
        </p:spPr>
        <p:txBody>
          <a:bodyPr wrap="square" lIns="0" tIns="0" rIns="0" bIns="0" rtlCol="0" anchor="t">
            <a:normAutofit/>
          </a:bodyPr>
          <a:lstStyle/>
          <a:p>
            <a:pPr algn="r" indent="0" marL="0">
              <a:buNone/>
            </a:pPr>
            <a:r>
              <a:rPr lang="en-US" sz="950" b="1" dirty="0">
                <a:solidFill>
                  <a:srgbClr val="52606D"/>
                </a:solidFill>
                <a:latin typeface="Arial" pitchFamily="34" charset="0"/>
                <a:ea typeface="Arial" pitchFamily="34" charset="-122"/>
                <a:cs typeface="Arial" pitchFamily="34" charset="-120"/>
              </a:rPr>
              <a:t>CONCLUSION</a:t>
            </a:r>
            <a:endParaRPr lang="en-US" sz="950" dirty="0"/>
          </a:p>
        </p:txBody>
      </p:sp>
      <p:sp>
        <p:nvSpPr>
          <p:cNvPr id="4" name="Shape 2"/>
          <p:cNvSpPr/>
          <p:nvPr/>
        </p:nvSpPr>
        <p:spPr>
          <a:xfrm>
            <a:off x="502920" y="475488"/>
            <a:ext cx="11183112" cy="0"/>
          </a:xfrm>
          <a:prstGeom prst="line">
            <a:avLst/>
          </a:prstGeom>
          <a:noFill/>
          <a:ln w="8890">
            <a:solidFill>
              <a:srgbClr val="E8EDF1"/>
            </a:solidFill>
            <a:prstDash val="solid"/>
            <a:headEnd type="none"/>
            <a:tailEnd type="none"/>
          </a:ln>
        </p:spPr>
      </p:sp>
      <p:sp>
        <p:nvSpPr>
          <p:cNvPr id="5" name="Text 3"/>
          <p:cNvSpPr txBox="1"/>
          <p:nvPr/>
        </p:nvSpPr>
        <p:spPr>
          <a:xfrm>
            <a:off x="11228832" y="6455664"/>
            <a:ext cx="411480" cy="182880"/>
          </a:xfrm>
          <a:prstGeom prst="rect">
            <a:avLst/>
          </a:prstGeom>
          <a:noFill/>
          <a:ln/>
        </p:spPr>
        <p:txBody>
          <a:bodyPr wrap="square" lIns="0" tIns="0" rIns="0" bIns="0" rtlCol="0" anchor="t">
            <a:normAutofit/>
          </a:bodyPr>
          <a:lstStyle/>
          <a:p>
            <a:pPr algn="r" indent="0" marL="0">
              <a:buNone/>
            </a:pPr>
            <a:r>
              <a:rPr lang="en-US" sz="1000" dirty="0">
                <a:solidFill>
                  <a:srgbClr val="52606D"/>
                </a:solidFill>
                <a:latin typeface="Arial" pitchFamily="34" charset="0"/>
                <a:ea typeface="Arial" pitchFamily="34" charset="-122"/>
                <a:cs typeface="Arial" pitchFamily="34" charset="-120"/>
              </a:rPr>
              <a:t>13</a:t>
            </a:r>
            <a:endParaRPr lang="en-US" sz="1000" dirty="0"/>
          </a:p>
        </p:txBody>
      </p:sp>
      <p:sp>
        <p:nvSpPr>
          <p:cNvPr id="6" name="Text 4"/>
          <p:cNvSpPr txBox="1"/>
          <p:nvPr/>
        </p:nvSpPr>
        <p:spPr>
          <a:xfrm>
            <a:off x="502920" y="868680"/>
            <a:ext cx="9875520" cy="502920"/>
          </a:xfrm>
          <a:prstGeom prst="rect">
            <a:avLst/>
          </a:prstGeom>
          <a:noFill/>
          <a:ln/>
        </p:spPr>
        <p:txBody>
          <a:bodyPr wrap="square" lIns="0" tIns="0" rIns="0" bIns="0" rtlCol="0" anchor="t">
            <a:normAutofit/>
          </a:bodyPr>
          <a:lstStyle/>
          <a:p>
            <a:pPr algn="l" indent="0" marL="0">
              <a:buNone/>
            </a:pPr>
            <a:r>
              <a:rPr lang="en-US" sz="3400" b="1" dirty="0">
                <a:solidFill>
                  <a:srgbClr val="111827"/>
                </a:solidFill>
                <a:latin typeface="Arial" pitchFamily="34" charset="0"/>
                <a:ea typeface="Arial" pitchFamily="34" charset="-122"/>
                <a:cs typeface="Arial" pitchFamily="34" charset="-120"/>
              </a:rPr>
              <a:t>Safe learning for unknown vehicle dynamics</a:t>
            </a:r>
            <a:endParaRPr lang="en-US" sz="3400" dirty="0"/>
          </a:p>
        </p:txBody>
      </p:sp>
      <p:sp>
        <p:nvSpPr>
          <p:cNvPr id="7" name="Shape 5"/>
          <p:cNvSpPr/>
          <p:nvPr/>
        </p:nvSpPr>
        <p:spPr>
          <a:xfrm>
            <a:off x="502920" y="1920240"/>
            <a:ext cx="3310128" cy="2971800"/>
          </a:xfrm>
          <a:prstGeom prst="rect">
            <a:avLst/>
          </a:prstGeom>
          <a:solidFill>
            <a:srgbClr val="F3F5F7"/>
          </a:solidFill>
          <a:ln w="12700">
            <a:solidFill>
              <a:srgbClr val="F3F5F7">
                <a:alpha val="0"/>
              </a:srgbClr>
            </a:solidFill>
            <a:prstDash val="solid"/>
          </a:ln>
        </p:spPr>
      </p:sp>
      <p:sp>
        <p:nvSpPr>
          <p:cNvPr id="8" name="Shape 6"/>
          <p:cNvSpPr/>
          <p:nvPr/>
        </p:nvSpPr>
        <p:spPr>
          <a:xfrm>
            <a:off x="731520" y="2194560"/>
            <a:ext cx="530352" cy="530352"/>
          </a:xfrm>
          <a:prstGeom prst="roundRect">
            <a:avLst/>
          </a:prstGeom>
          <a:solidFill>
            <a:srgbClr val="1677C8"/>
          </a:solidFill>
          <a:ln w="12700">
            <a:solidFill>
              <a:srgbClr val="1677C8">
                <a:alpha val="0"/>
              </a:srgbClr>
            </a:solidFill>
            <a:prstDash val="solid"/>
          </a:ln>
        </p:spPr>
      </p:sp>
      <p:sp>
        <p:nvSpPr>
          <p:cNvPr id="9" name="Text 7"/>
          <p:cNvSpPr txBox="1"/>
          <p:nvPr/>
        </p:nvSpPr>
        <p:spPr>
          <a:xfrm>
            <a:off x="731520" y="2322576"/>
            <a:ext cx="530352" cy="164592"/>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8"/>
          <p:cNvSpPr txBox="1"/>
          <p:nvPr/>
        </p:nvSpPr>
        <p:spPr>
          <a:xfrm>
            <a:off x="1435608" y="2231136"/>
            <a:ext cx="2103120" cy="292608"/>
          </a:xfrm>
          <a:prstGeom prst="rect">
            <a:avLst/>
          </a:prstGeom>
          <a:noFill/>
          <a:ln/>
        </p:spPr>
        <p:txBody>
          <a:bodyPr wrap="square" lIns="0" tIns="0" rIns="0" bIns="0" rtlCol="0" anchor="t">
            <a:normAutofit/>
          </a:bodyPr>
          <a:lstStyle/>
          <a:p>
            <a:pPr algn="l" indent="0" marL="0">
              <a:buNone/>
            </a:pPr>
            <a:r>
              <a:rPr lang="en-US" sz="2200" b="1" dirty="0">
                <a:solidFill>
                  <a:srgbClr val="1677C8"/>
                </a:solidFill>
                <a:latin typeface="Arial" pitchFamily="34" charset="0"/>
                <a:ea typeface="Arial" pitchFamily="34" charset="-122"/>
                <a:cs typeface="Arial" pitchFamily="34" charset="-120"/>
              </a:rPr>
              <a:t>Rank-relaxed UIO</a:t>
            </a:r>
            <a:endParaRPr lang="en-US" sz="2200" dirty="0"/>
          </a:p>
        </p:txBody>
      </p:sp>
      <p:sp>
        <p:nvSpPr>
          <p:cNvPr id="11" name="Text 9"/>
          <p:cNvSpPr txBox="1"/>
          <p:nvPr/>
        </p:nvSpPr>
        <p:spPr>
          <a:xfrm>
            <a:off x="777240" y="3127248"/>
            <a:ext cx="2761488" cy="1042416"/>
          </a:xfrm>
          <a:prstGeom prst="rect">
            <a:avLst/>
          </a:prstGeom>
          <a:noFill/>
          <a:ln/>
        </p:spPr>
        <p:txBody>
          <a:bodyPr wrap="square" lIns="0" tIns="0" rIns="0" bIns="0" rtlCol="0" anchor="ctr">
            <a:normAutofit/>
          </a:bodyPr>
          <a:lstStyle/>
          <a:p>
            <a:pPr algn="ctr" indent="0" marL="0">
              <a:buNone/>
            </a:pPr>
            <a:r>
              <a:rPr lang="en-US" sz="1820" dirty="0">
                <a:solidFill>
                  <a:srgbClr val="111827"/>
                </a:solidFill>
                <a:latin typeface="Arial" pitchFamily="34" charset="0"/>
                <a:ea typeface="Arial" pitchFamily="34" charset="-122"/>
                <a:cs typeface="Arial" pitchFamily="34" charset="-120"/>
              </a:rPr>
              <a:t>A generalized, regularized observer produces bounded estimates even when exact unknown-input decoupling is unavailable.</a:t>
            </a:r>
            <a:endParaRPr lang="en-US" sz="1820" dirty="0"/>
          </a:p>
        </p:txBody>
      </p:sp>
      <p:sp>
        <p:nvSpPr>
          <p:cNvPr id="12" name="Shape 10"/>
          <p:cNvSpPr/>
          <p:nvPr/>
        </p:nvSpPr>
        <p:spPr>
          <a:xfrm>
            <a:off x="4233672" y="1920240"/>
            <a:ext cx="3310128" cy="2971800"/>
          </a:xfrm>
          <a:prstGeom prst="rect">
            <a:avLst/>
          </a:prstGeom>
          <a:solidFill>
            <a:srgbClr val="F3F5F7"/>
          </a:solidFill>
          <a:ln w="12700">
            <a:solidFill>
              <a:srgbClr val="F3F5F7">
                <a:alpha val="0"/>
              </a:srgbClr>
            </a:solidFill>
            <a:prstDash val="solid"/>
          </a:ln>
        </p:spPr>
      </p:sp>
      <p:sp>
        <p:nvSpPr>
          <p:cNvPr id="13" name="Shape 11"/>
          <p:cNvSpPr/>
          <p:nvPr/>
        </p:nvSpPr>
        <p:spPr>
          <a:xfrm>
            <a:off x="4462272" y="2194560"/>
            <a:ext cx="530352" cy="530352"/>
          </a:xfrm>
          <a:prstGeom prst="roundRect">
            <a:avLst/>
          </a:prstGeom>
          <a:solidFill>
            <a:srgbClr val="2FAE75"/>
          </a:solidFill>
          <a:ln w="12700">
            <a:solidFill>
              <a:srgbClr val="2FAE75">
                <a:alpha val="0"/>
              </a:srgbClr>
            </a:solidFill>
            <a:prstDash val="solid"/>
          </a:ln>
        </p:spPr>
      </p:sp>
      <p:sp>
        <p:nvSpPr>
          <p:cNvPr id="14" name="Text 12"/>
          <p:cNvSpPr txBox="1"/>
          <p:nvPr/>
        </p:nvSpPr>
        <p:spPr>
          <a:xfrm>
            <a:off x="4462272" y="2322576"/>
            <a:ext cx="530352" cy="164592"/>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3"/>
          <p:cNvSpPr txBox="1"/>
          <p:nvPr/>
        </p:nvSpPr>
        <p:spPr>
          <a:xfrm>
            <a:off x="5166360" y="2231136"/>
            <a:ext cx="2103120" cy="292608"/>
          </a:xfrm>
          <a:prstGeom prst="rect">
            <a:avLst/>
          </a:prstGeom>
          <a:noFill/>
          <a:ln/>
        </p:spPr>
        <p:txBody>
          <a:bodyPr wrap="square" lIns="0" tIns="0" rIns="0" bIns="0" rtlCol="0" anchor="t">
            <a:normAutofit/>
          </a:bodyPr>
          <a:lstStyle/>
          <a:p>
            <a:pPr algn="l" indent="0" marL="0">
              <a:buNone/>
            </a:pPr>
            <a:r>
              <a:rPr lang="en-US" sz="2200" b="1" dirty="0">
                <a:solidFill>
                  <a:srgbClr val="2FAE75"/>
                </a:solidFill>
                <a:latin typeface="Arial" pitchFamily="34" charset="0"/>
                <a:ea typeface="Arial" pitchFamily="34" charset="-122"/>
                <a:cs typeface="Arial" pitchFamily="34" charset="-120"/>
              </a:rPr>
              <a:t>UIO-supervised learning</a:t>
            </a:r>
            <a:endParaRPr lang="en-US" sz="2200" dirty="0"/>
          </a:p>
        </p:txBody>
      </p:sp>
      <p:sp>
        <p:nvSpPr>
          <p:cNvPr id="16" name="Text 14"/>
          <p:cNvSpPr txBox="1"/>
          <p:nvPr/>
        </p:nvSpPr>
        <p:spPr>
          <a:xfrm>
            <a:off x="4507992" y="3127248"/>
            <a:ext cx="2761488" cy="1042416"/>
          </a:xfrm>
          <a:prstGeom prst="rect">
            <a:avLst/>
          </a:prstGeom>
          <a:noFill/>
          <a:ln/>
        </p:spPr>
        <p:txBody>
          <a:bodyPr wrap="square" lIns="0" tIns="0" rIns="0" bIns="0" rtlCol="0" anchor="ctr">
            <a:normAutofit/>
          </a:bodyPr>
          <a:lstStyle/>
          <a:p>
            <a:pPr algn="ctr" indent="0" marL="0">
              <a:buNone/>
            </a:pPr>
            <a:r>
              <a:rPr lang="en-US" sz="1820" dirty="0">
                <a:solidFill>
                  <a:srgbClr val="111827"/>
                </a:solidFill>
                <a:latin typeface="Arial" pitchFamily="34" charset="0"/>
                <a:ea typeface="Arial" pitchFamily="34" charset="-122"/>
                <a:cs typeface="Arial" pitchFamily="34" charset="-120"/>
              </a:rPr>
              <a:t>The neural observer learns the repeatable part of the unknown input while remaining consistent with the physics-based reference.</a:t>
            </a:r>
            <a:endParaRPr lang="en-US" sz="1820" dirty="0"/>
          </a:p>
        </p:txBody>
      </p:sp>
      <p:sp>
        <p:nvSpPr>
          <p:cNvPr id="17" name="Shape 15"/>
          <p:cNvSpPr/>
          <p:nvPr/>
        </p:nvSpPr>
        <p:spPr>
          <a:xfrm>
            <a:off x="7964424" y="1920240"/>
            <a:ext cx="3310128" cy="2971800"/>
          </a:xfrm>
          <a:prstGeom prst="rect">
            <a:avLst/>
          </a:prstGeom>
          <a:solidFill>
            <a:srgbClr val="F3F5F7"/>
          </a:solidFill>
          <a:ln w="12700">
            <a:solidFill>
              <a:srgbClr val="F3F5F7">
                <a:alpha val="0"/>
              </a:srgbClr>
            </a:solidFill>
            <a:prstDash val="solid"/>
          </a:ln>
        </p:spPr>
      </p:sp>
      <p:sp>
        <p:nvSpPr>
          <p:cNvPr id="18" name="Shape 16"/>
          <p:cNvSpPr/>
          <p:nvPr/>
        </p:nvSpPr>
        <p:spPr>
          <a:xfrm>
            <a:off x="8193024" y="2194560"/>
            <a:ext cx="530352" cy="530352"/>
          </a:xfrm>
          <a:prstGeom prst="roundRect">
            <a:avLst/>
          </a:prstGeom>
          <a:solidFill>
            <a:srgbClr val="EE9A17"/>
          </a:solidFill>
          <a:ln w="12700">
            <a:solidFill>
              <a:srgbClr val="EE9A17">
                <a:alpha val="0"/>
              </a:srgbClr>
            </a:solidFill>
            <a:prstDash val="solid"/>
          </a:ln>
        </p:spPr>
      </p:sp>
      <p:sp>
        <p:nvSpPr>
          <p:cNvPr id="19" name="Text 17"/>
          <p:cNvSpPr txBox="1"/>
          <p:nvPr/>
        </p:nvSpPr>
        <p:spPr>
          <a:xfrm>
            <a:off x="8193024" y="2322576"/>
            <a:ext cx="530352" cy="164592"/>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0" name="Text 18"/>
          <p:cNvSpPr txBox="1"/>
          <p:nvPr/>
        </p:nvSpPr>
        <p:spPr>
          <a:xfrm>
            <a:off x="8897112" y="2231136"/>
            <a:ext cx="2103120" cy="292608"/>
          </a:xfrm>
          <a:prstGeom prst="rect">
            <a:avLst/>
          </a:prstGeom>
          <a:noFill/>
          <a:ln/>
        </p:spPr>
        <p:txBody>
          <a:bodyPr wrap="square" lIns="0" tIns="0" rIns="0" bIns="0" rtlCol="0" anchor="t">
            <a:normAutofit/>
          </a:bodyPr>
          <a:lstStyle/>
          <a:p>
            <a:pPr algn="l" indent="0" marL="0">
              <a:buNone/>
            </a:pPr>
            <a:r>
              <a:rPr lang="en-US" sz="2200" b="1" dirty="0">
                <a:solidFill>
                  <a:srgbClr val="EE9A17"/>
                </a:solidFill>
                <a:latin typeface="Arial" pitchFamily="34" charset="0"/>
                <a:ea typeface="Arial" pitchFamily="34" charset="-122"/>
                <a:cs typeface="Arial" pitchFamily="34" charset="-120"/>
              </a:rPr>
              <a:t>Vehicle evidence</a:t>
            </a:r>
            <a:endParaRPr lang="en-US" sz="2200" dirty="0"/>
          </a:p>
        </p:txBody>
      </p:sp>
      <p:sp>
        <p:nvSpPr>
          <p:cNvPr id="21" name="Text 19"/>
          <p:cNvSpPr txBox="1"/>
          <p:nvPr/>
        </p:nvSpPr>
        <p:spPr>
          <a:xfrm>
            <a:off x="8238744" y="3127248"/>
            <a:ext cx="2761488" cy="1042416"/>
          </a:xfrm>
          <a:prstGeom prst="rect">
            <a:avLst/>
          </a:prstGeom>
          <a:noFill/>
          <a:ln/>
        </p:spPr>
        <p:txBody>
          <a:bodyPr wrap="square" lIns="0" tIns="0" rIns="0" bIns="0" rtlCol="0" anchor="ctr">
            <a:normAutofit/>
          </a:bodyPr>
          <a:lstStyle/>
          <a:p>
            <a:pPr algn="ctr" indent="0" marL="0">
              <a:buNone/>
            </a:pPr>
            <a:r>
              <a:rPr lang="en-US" sz="1820" dirty="0">
                <a:solidFill>
                  <a:srgbClr val="111827"/>
                </a:solidFill>
                <a:latin typeface="Arial" pitchFamily="34" charset="0"/>
                <a:ea typeface="Arial" pitchFamily="34" charset="-122"/>
                <a:cs typeface="Arial" pitchFamily="34" charset="-120"/>
              </a:rPr>
              <a:t>Simulation shows accurate trajectory tracking, state reconstruction, and improved tire-force residual estimation.</a:t>
            </a:r>
            <a:endParaRPr lang="en-US" sz="1820" dirty="0"/>
          </a:p>
        </p:txBody>
      </p:sp>
      <p:sp>
        <p:nvSpPr>
          <p:cNvPr id="22" name="Shape 20"/>
          <p:cNvSpPr/>
          <p:nvPr/>
        </p:nvSpPr>
        <p:spPr>
          <a:xfrm>
            <a:off x="502920" y="5532120"/>
            <a:ext cx="11155680" cy="566928"/>
          </a:xfrm>
          <a:prstGeom prst="rect">
            <a:avLst/>
          </a:prstGeom>
          <a:solidFill>
            <a:srgbClr val="111827"/>
          </a:solidFill>
          <a:ln w="12700">
            <a:solidFill>
              <a:srgbClr val="111827">
                <a:alpha val="0"/>
              </a:srgbClr>
            </a:solidFill>
            <a:prstDash val="solid"/>
          </a:ln>
        </p:spPr>
      </p:sp>
      <p:sp>
        <p:nvSpPr>
          <p:cNvPr id="23" name="Text 21"/>
          <p:cNvSpPr txBox="1"/>
          <p:nvPr/>
        </p:nvSpPr>
        <p:spPr>
          <a:xfrm>
            <a:off x="786384" y="5705856"/>
            <a:ext cx="10588752" cy="201168"/>
          </a:xfrm>
          <a:prstGeom prst="rect">
            <a:avLst/>
          </a:prstGeom>
          <a:noFill/>
          <a:ln/>
        </p:spPr>
        <p:txBody>
          <a:bodyPr wrap="square" lIns="0" tIns="0" rIns="0" bIns="0" rtlCol="0" anchor="t">
            <a:normAutofit/>
          </a:bodyPr>
          <a:lstStyle/>
          <a:p>
            <a:pPr algn="ctr" indent="0" marL="0">
              <a:buNone/>
            </a:pPr>
            <a:r>
              <a:rPr lang="en-US" sz="2000" b="1" dirty="0">
                <a:solidFill>
                  <a:srgbClr val="FFFFFF"/>
                </a:solidFill>
                <a:latin typeface="Arial" pitchFamily="34" charset="0"/>
                <a:ea typeface="Arial" pitchFamily="34" charset="-122"/>
                <a:cs typeface="Arial" pitchFamily="34" charset="-120"/>
              </a:rPr>
              <a:t>Next: validation with real driving data and a discrete-time embedded implementation.</a:t>
            </a:r>
            <a:endParaRPr lang="en-US" sz="2000" dirty="0"/>
          </a:p>
        </p:txBody>
      </p:sp>
      <p:sp>
        <p:nvSpPr>
          <p:cNvPr id="24" name="Text 22"/>
          <p:cNvSpPr txBox="1"/>
          <p:nvPr/>
        </p:nvSpPr>
        <p:spPr>
          <a:xfrm>
            <a:off x="502920" y="6318504"/>
            <a:ext cx="2743200" cy="228600"/>
          </a:xfrm>
          <a:prstGeom prst="rect">
            <a:avLst/>
          </a:prstGeom>
          <a:noFill/>
          <a:ln/>
        </p:spPr>
        <p:txBody>
          <a:bodyPr wrap="square" lIns="0" tIns="0" rIns="0" bIns="0" rtlCol="0" anchor="t">
            <a:normAutofit/>
          </a:bodyPr>
          <a:lstStyle/>
          <a:p>
            <a:pPr algn="l" indent="0" marL="0">
              <a:buNone/>
            </a:pPr>
            <a:r>
              <a:rPr lang="en-US" sz="1550" dirty="0">
                <a:solidFill>
                  <a:srgbClr val="52606D"/>
                </a:solidFill>
                <a:latin typeface="Arial" pitchFamily="34" charset="0"/>
                <a:ea typeface="Arial" pitchFamily="34" charset="-122"/>
                <a:cs typeface="Arial" pitchFamily="34" charset="-120"/>
              </a:rPr>
              <a:t>Thank you</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Université de Lorraine · CRAN · SEGULA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with Unknown Input Observers for Robust Nonlinear Estimation</dc:title>
  <dc:subject>15-minute conference presentation</dc:subject>
  <dc:creator>Q.H. Nguyen et al.</dc:creator>
  <cp:lastModifiedBy>Q.H. Nguyen et al.</cp:lastModifiedBy>
  <cp:revision>1</cp:revision>
  <dcterms:created xsi:type="dcterms:W3CDTF">2026-08-19T21:26:11Z</dcterms:created>
  <dcterms:modified xsi:type="dcterms:W3CDTF">2026-08-19T21:26:11Z</dcterms:modified>
</cp:coreProperties>
</file>